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56" r:id="rId5"/>
    <p:sldId id="267" r:id="rId6"/>
    <p:sldId id="258" r:id="rId7"/>
    <p:sldId id="276" r:id="rId8"/>
    <p:sldId id="277" r:id="rId9"/>
    <p:sldId id="265" r:id="rId10"/>
    <p:sldId id="263" r:id="rId11"/>
    <p:sldId id="260" r:id="rId12"/>
    <p:sldId id="269" r:id="rId13"/>
    <p:sldId id="274" r:id="rId14"/>
    <p:sldId id="275" r:id="rId15"/>
    <p:sldId id="271" r:id="rId16"/>
    <p:sldId id="272" r:id="rId17"/>
    <p:sldId id="273" r:id="rId18"/>
    <p:sldId id="295" r:id="rId19"/>
    <p:sldId id="287" r:id="rId20"/>
    <p:sldId id="288" r:id="rId21"/>
    <p:sldId id="289" r:id="rId22"/>
    <p:sldId id="293" r:id="rId23"/>
    <p:sldId id="290" r:id="rId24"/>
    <p:sldId id="291" r:id="rId25"/>
    <p:sldId id="292" r:id="rId26"/>
    <p:sldId id="286" r:id="rId27"/>
    <p:sldId id="270" r:id="rId28"/>
    <p:sldId id="268" r:id="rId29"/>
    <p:sldId id="25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6246ED-D0BF-C894-83D0-67717C800B3C}" v="26" dt="2024-09-18T23:22:25.382"/>
    <p1510:client id="{8AB2911E-D0D2-5477-0D6A-546F9971BD2D}" v="1" dt="2024-09-19T03:12:48.132"/>
    <p1510:client id="{96FFE622-EABC-4ADA-852D-5534B096A84F}" v="772" dt="2024-09-18T14:37:03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1E5EB6-D04A-057E-76CC-10145FC921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717993-304C-356B-4CE0-EF3D4911CC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B0E166-5A1B-482B-8AF2-D8C815FDF249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41726-6236-252D-3125-CBE2DA5E4B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22961-1CA4-DC23-FD04-7752853CDE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0641F-8D2E-4B6D-A516-55AB953938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22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F2D7DB-A7D3-4580-9EEB-017447174A94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3B6B39-1FB3-456D-8568-1EF310936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24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B6B39-1FB3-456D-8568-1EF3109362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98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3B6B39-1FB3-456D-8568-1EF3109362A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578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7156F1-34FE-756E-0B64-B272B7D4B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128760" cy="6858000"/>
          </a:xfrm>
          <a:prstGeom prst="rect">
            <a:avLst/>
          </a:prstGeom>
          <a:solidFill>
            <a:schemeClr val="accent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AFFF7A-2129-B9CE-1B30-239FEB64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alphaModFix amt="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736"/>
          <a:stretch/>
        </p:blipFill>
        <p:spPr>
          <a:xfrm rot="10800000" flipV="1">
            <a:off x="5644581" y="-7646"/>
            <a:ext cx="6547419" cy="68656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FBDFE4-22E9-9FAC-E1DD-D7F4FB161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alphaModFix amt="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4367" b="-6266"/>
          <a:stretch/>
        </p:blipFill>
        <p:spPr>
          <a:xfrm rot="5400000" flipV="1">
            <a:off x="63141" y="-70784"/>
            <a:ext cx="4163783" cy="42900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369027-A380-3EDB-355B-67F17AC864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468" y="1803015"/>
            <a:ext cx="5393532" cy="3670685"/>
          </a:xfrm>
        </p:spPr>
        <p:txBody>
          <a:bodyPr lIns="0" anchor="b">
            <a:noAutofit/>
          </a:bodyPr>
          <a:lstStyle>
            <a:lvl1pPr algn="l">
              <a:lnSpc>
                <a:spcPct val="80000"/>
              </a:lnSpc>
              <a:defRPr sz="80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E3DAB823-8DF9-82FE-1C75-C0BED798A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2468" y="904461"/>
            <a:ext cx="4609760" cy="890909"/>
          </a:xfrm>
        </p:spPr>
        <p:txBody>
          <a:bodyPr lIns="0" rIns="0" anchor="ctr">
            <a:normAutofit/>
          </a:bodyPr>
          <a:lstStyle>
            <a:lvl1pPr marL="0" indent="0" algn="l">
              <a:buNone/>
              <a:defRPr sz="2400" cap="all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9EB697-B782-B0BE-B5BE-74CE1BA5A0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2468" y="5658078"/>
            <a:ext cx="5393532" cy="389251"/>
          </a:xfrm>
        </p:spPr>
        <p:txBody>
          <a:bodyPr lIns="0" anchor="t">
            <a:normAutofit/>
          </a:bodyPr>
          <a:lstStyle>
            <a:lvl1pPr marL="0" indent="0">
              <a:buNone/>
              <a:defRPr sz="1600" b="0" cap="all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1CC78C-D6DB-602E-592B-738F7C0D4E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85835" y="1048054"/>
            <a:ext cx="4840129" cy="4840129"/>
          </a:xfrm>
          <a:custGeom>
            <a:avLst/>
            <a:gdLst>
              <a:gd name="connsiteX0" fmla="*/ 2990850 w 5981700"/>
              <a:gd name="connsiteY0" fmla="*/ 0 h 5981700"/>
              <a:gd name="connsiteX1" fmla="*/ 5981700 w 5981700"/>
              <a:gd name="connsiteY1" fmla="*/ 2990850 h 5981700"/>
              <a:gd name="connsiteX2" fmla="*/ 2990850 w 5981700"/>
              <a:gd name="connsiteY2" fmla="*/ 5981700 h 5981700"/>
              <a:gd name="connsiteX3" fmla="*/ 0 w 5981700"/>
              <a:gd name="connsiteY3" fmla="*/ 2990850 h 5981700"/>
              <a:gd name="connsiteX4" fmla="*/ 2990850 w 5981700"/>
              <a:gd name="connsiteY4" fmla="*/ 0 h 598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81700" h="5981700">
                <a:moveTo>
                  <a:pt x="2990850" y="0"/>
                </a:moveTo>
                <a:cubicBezTo>
                  <a:pt x="4642651" y="0"/>
                  <a:pt x="5981700" y="1339049"/>
                  <a:pt x="5981700" y="2990850"/>
                </a:cubicBezTo>
                <a:cubicBezTo>
                  <a:pt x="5981700" y="4642651"/>
                  <a:pt x="4642651" y="5981700"/>
                  <a:pt x="2990850" y="5981700"/>
                </a:cubicBezTo>
                <a:cubicBezTo>
                  <a:pt x="1339049" y="5981700"/>
                  <a:pt x="0" y="4642651"/>
                  <a:pt x="0" y="2990850"/>
                </a:cubicBezTo>
                <a:cubicBezTo>
                  <a:pt x="0" y="1339049"/>
                  <a:pt x="1339049" y="0"/>
                  <a:pt x="2990850" y="0"/>
                </a:cubicBezTo>
                <a:close/>
              </a:path>
            </a:pathLst>
          </a:cu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573186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1FBDFE4-22E9-9FAC-E1DD-D7F4FB161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alphaModFix amt="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921" b="-5281"/>
          <a:stretch/>
        </p:blipFill>
        <p:spPr>
          <a:xfrm rot="16200000" flipV="1">
            <a:off x="7359287" y="2025287"/>
            <a:ext cx="4620983" cy="504444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07156F1-34FE-756E-0B64-B272B7D4B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7646"/>
            <a:ext cx="6151794" cy="6865646"/>
          </a:xfrm>
          <a:prstGeom prst="rect">
            <a:avLst/>
          </a:prstGeom>
          <a:solidFill>
            <a:schemeClr val="accent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AFFF7A-2129-B9CE-1B30-239FEB64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alphaModFix amt="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736" b="-775"/>
          <a:stretch/>
        </p:blipFill>
        <p:spPr>
          <a:xfrm rot="5400000" flipV="1">
            <a:off x="620844" y="-620842"/>
            <a:ext cx="6547419" cy="77891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369027-A380-3EDB-355B-67F17AC864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79486" y="3162300"/>
            <a:ext cx="5492974" cy="3620240"/>
          </a:xfrm>
        </p:spPr>
        <p:txBody>
          <a:bodyPr lIns="0" anchor="t">
            <a:noAutofit/>
          </a:bodyPr>
          <a:lstStyle>
            <a:lvl1pPr algn="l">
              <a:lnSpc>
                <a:spcPct val="80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1CC78C-D6DB-602E-592B-738F7C0D4EB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794" y="1048054"/>
            <a:ext cx="4840129" cy="4840129"/>
          </a:xfrm>
          <a:custGeom>
            <a:avLst/>
            <a:gdLst>
              <a:gd name="connsiteX0" fmla="*/ 2990850 w 5981700"/>
              <a:gd name="connsiteY0" fmla="*/ 0 h 5981700"/>
              <a:gd name="connsiteX1" fmla="*/ 5981700 w 5981700"/>
              <a:gd name="connsiteY1" fmla="*/ 2990850 h 5981700"/>
              <a:gd name="connsiteX2" fmla="*/ 2990850 w 5981700"/>
              <a:gd name="connsiteY2" fmla="*/ 5981700 h 5981700"/>
              <a:gd name="connsiteX3" fmla="*/ 0 w 5981700"/>
              <a:gd name="connsiteY3" fmla="*/ 2990850 h 5981700"/>
              <a:gd name="connsiteX4" fmla="*/ 2990850 w 5981700"/>
              <a:gd name="connsiteY4" fmla="*/ 0 h 598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81700" h="5981700">
                <a:moveTo>
                  <a:pt x="2990850" y="0"/>
                </a:moveTo>
                <a:cubicBezTo>
                  <a:pt x="4642651" y="0"/>
                  <a:pt x="5981700" y="1339049"/>
                  <a:pt x="5981700" y="2990850"/>
                </a:cubicBezTo>
                <a:cubicBezTo>
                  <a:pt x="5981700" y="4642651"/>
                  <a:pt x="4642651" y="5981700"/>
                  <a:pt x="2990850" y="5981700"/>
                </a:cubicBezTo>
                <a:cubicBezTo>
                  <a:pt x="1339049" y="5981700"/>
                  <a:pt x="0" y="4642651"/>
                  <a:pt x="0" y="2990850"/>
                </a:cubicBezTo>
                <a:cubicBezTo>
                  <a:pt x="0" y="1339049"/>
                  <a:pt x="1339049" y="0"/>
                  <a:pt x="2990850" y="0"/>
                </a:cubicBezTo>
                <a:close/>
              </a:path>
            </a:pathLst>
          </a:cu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308F0DE-05CF-52D2-524A-39AFB4CD0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9486" y="754602"/>
            <a:ext cx="3724353" cy="2148619"/>
          </a:xfrm>
        </p:spPr>
        <p:txBody>
          <a:bodyPr lIns="0" anchor="b">
            <a:normAutofit/>
          </a:bodyPr>
          <a:lstStyle>
            <a:lvl1pPr marL="0" indent="0" algn="l">
              <a:buNone/>
              <a:defRPr lang="en-US" sz="1600" b="0" kern="1200" cap="all" spc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AB5F830-68FC-D02D-E399-9A7E2D001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0504" b="19513"/>
          <a:stretch/>
        </p:blipFill>
        <p:spPr>
          <a:xfrm rot="16200000">
            <a:off x="10787010" y="371951"/>
            <a:ext cx="1232643" cy="157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06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7156F1-34FE-756E-0B64-B272B7D4B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98280" y="-7646"/>
            <a:ext cx="3093720" cy="6865646"/>
          </a:xfrm>
          <a:prstGeom prst="rect">
            <a:avLst/>
          </a:prstGeom>
          <a:solidFill>
            <a:schemeClr val="accent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FAFFF7A-2129-B9CE-1B30-239FEB64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alphaModFix amt="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736"/>
          <a:stretch/>
        </p:blipFill>
        <p:spPr>
          <a:xfrm rot="10800000" flipV="1">
            <a:off x="5644581" y="-7646"/>
            <a:ext cx="6547419" cy="68656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1FBDFE4-22E9-9FAC-E1DD-D7F4FB161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alphaModFix amt="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4367" b="-6266"/>
          <a:stretch/>
        </p:blipFill>
        <p:spPr>
          <a:xfrm rot="5400000" flipV="1">
            <a:off x="63138" y="-70783"/>
            <a:ext cx="4163783" cy="42900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369027-A380-3EDB-355B-67F17AC864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281" y="3040380"/>
            <a:ext cx="5430207" cy="3817620"/>
          </a:xfrm>
        </p:spPr>
        <p:txBody>
          <a:bodyPr lIns="0" anchor="t">
            <a:noAutofit/>
          </a:bodyPr>
          <a:lstStyle>
            <a:lvl1pPr algn="l">
              <a:defRPr sz="70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308F0DE-05CF-52D2-524A-39AFB4CD0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281" y="1225118"/>
            <a:ext cx="4634178" cy="1678103"/>
          </a:xfrm>
        </p:spPr>
        <p:txBody>
          <a:bodyPr lIns="0" anchor="b">
            <a:normAutofit/>
          </a:bodyPr>
          <a:lstStyle>
            <a:lvl1pPr marL="0" indent="0" algn="l">
              <a:buNone/>
              <a:defRPr sz="2000" b="0" cap="all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914434B-2F33-1D60-AE02-DDEC3B9CF8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685835" y="1048054"/>
            <a:ext cx="4840129" cy="4840129"/>
          </a:xfrm>
          <a:custGeom>
            <a:avLst/>
            <a:gdLst>
              <a:gd name="connsiteX0" fmla="*/ 2990850 w 5981700"/>
              <a:gd name="connsiteY0" fmla="*/ 0 h 5981700"/>
              <a:gd name="connsiteX1" fmla="*/ 5981700 w 5981700"/>
              <a:gd name="connsiteY1" fmla="*/ 2990850 h 5981700"/>
              <a:gd name="connsiteX2" fmla="*/ 2990850 w 5981700"/>
              <a:gd name="connsiteY2" fmla="*/ 5981700 h 5981700"/>
              <a:gd name="connsiteX3" fmla="*/ 0 w 5981700"/>
              <a:gd name="connsiteY3" fmla="*/ 2990850 h 5981700"/>
              <a:gd name="connsiteX4" fmla="*/ 2990850 w 5981700"/>
              <a:gd name="connsiteY4" fmla="*/ 0 h 598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81700" h="5981700">
                <a:moveTo>
                  <a:pt x="2990850" y="0"/>
                </a:moveTo>
                <a:cubicBezTo>
                  <a:pt x="4642651" y="0"/>
                  <a:pt x="5981700" y="1339049"/>
                  <a:pt x="5981700" y="2990850"/>
                </a:cubicBezTo>
                <a:cubicBezTo>
                  <a:pt x="5981700" y="4642651"/>
                  <a:pt x="4642651" y="5981700"/>
                  <a:pt x="2990850" y="5981700"/>
                </a:cubicBezTo>
                <a:cubicBezTo>
                  <a:pt x="1339049" y="5981700"/>
                  <a:pt x="0" y="4642651"/>
                  <a:pt x="0" y="2990850"/>
                </a:cubicBezTo>
                <a:cubicBezTo>
                  <a:pt x="0" y="1339049"/>
                  <a:pt x="1339049" y="0"/>
                  <a:pt x="2990850" y="0"/>
                </a:cubicBezTo>
                <a:close/>
              </a:path>
            </a:pathLst>
          </a:cu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52506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E5157DB4-9CB7-294E-6FC5-03F67A02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7249888" y="0"/>
            <a:ext cx="4942112" cy="6858000"/>
          </a:xfrm>
          <a:prstGeom prst="rect">
            <a:avLst/>
          </a:prstGeom>
          <a:solidFill>
            <a:schemeClr val="accent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552F5AC-18A6-7462-5EB6-6F6F3A408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alphaModFix amt="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736"/>
          <a:stretch/>
        </p:blipFill>
        <p:spPr>
          <a:xfrm flipV="1">
            <a:off x="0" y="0"/>
            <a:ext cx="6547419" cy="6865646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D573256-59FC-E67E-E487-C37703D80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0" y="4808538"/>
            <a:ext cx="12192000" cy="0"/>
          </a:xfrm>
          <a:prstGeom prst="line">
            <a:avLst/>
          </a:prstGeom>
          <a:ln w="762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B369027-A380-3EDB-355B-67F17AC864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469" y="4154558"/>
            <a:ext cx="5324951" cy="2220902"/>
          </a:xfrm>
        </p:spPr>
        <p:txBody>
          <a:bodyPr lIns="0" anchor="b">
            <a:noAutofit/>
          </a:bodyPr>
          <a:lstStyle>
            <a:lvl1pPr algn="l"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7EB4FD7F-9DB9-04F2-0FF6-C32C0396FAD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770438"/>
          </a:xfrm>
        </p:spPr>
        <p:txBody>
          <a:bodyPr tIns="365760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1067FA4B-E31C-2922-DCB4-ACA6179812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61960" y="5288279"/>
            <a:ext cx="4130040" cy="1131567"/>
          </a:xfrm>
        </p:spPr>
        <p:txBody>
          <a:bodyPr lIns="0" anchor="ctr">
            <a:normAutofit/>
          </a:bodyPr>
          <a:lstStyle>
            <a:lvl1pPr marL="0" indent="0" algn="ctr">
              <a:buNone/>
              <a:defRPr sz="1800" b="0" cap="all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F167C73C-A4C3-9198-7F38-8DB5D6BD51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6764603" y="4925265"/>
            <a:ext cx="870600" cy="185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31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with Titl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A72122-641A-CA2F-E7AC-6FC3819C5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2736850"/>
            <a:ext cx="12192000" cy="4121150"/>
          </a:xfrm>
          <a:prstGeom prst="rect">
            <a:avLst/>
          </a:prstGeom>
          <a:solidFill>
            <a:schemeClr val="accent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9E4C80-6993-C1B1-26E6-463B91EB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alphaModFix amt="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450"/>
          <a:stretch/>
        </p:blipFill>
        <p:spPr>
          <a:xfrm flipV="1">
            <a:off x="1" y="-7646"/>
            <a:ext cx="12192000" cy="68656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369027-A380-3EDB-355B-67F17AC864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469" y="5331961"/>
            <a:ext cx="5279231" cy="539762"/>
          </a:xfrm>
        </p:spPr>
        <p:txBody>
          <a:bodyPr lIns="0" anchor="t">
            <a:noAutofit/>
          </a:bodyPr>
          <a:lstStyle>
            <a:lvl1pPr algn="l">
              <a:defRPr lang="en-US" sz="2000" b="0" kern="1200" spc="1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83FB349-AC61-548D-5D7E-37990D16B7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2469" y="310243"/>
            <a:ext cx="5279231" cy="471674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E0227EBE-BEA6-9FE3-015A-377B5C29024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09502" y="310242"/>
            <a:ext cx="5279231" cy="471674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08933BF-A0AD-9306-66A0-8F4D312552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2469" y="5883730"/>
            <a:ext cx="5279236" cy="664027"/>
          </a:xfrm>
        </p:spPr>
        <p:txBody>
          <a:bodyPr lIns="0" anchor="t">
            <a:normAutofit/>
          </a:bodyPr>
          <a:lstStyle>
            <a:lvl1pPr marL="0" indent="0" algn="l">
              <a:buNone/>
              <a:defRPr lang="en-US" sz="1400" b="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079C2CAE-EB6C-AA3C-093C-AA24705ADD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09499" y="5331961"/>
            <a:ext cx="5279236" cy="539762"/>
          </a:xfrm>
        </p:spPr>
        <p:txBody>
          <a:bodyPr lIns="0" anchor="t">
            <a:noAutofit/>
          </a:bodyPr>
          <a:lstStyle>
            <a:lvl1pPr marL="0" indent="0" algn="l">
              <a:buNone/>
              <a:defRPr lang="en-US" sz="2000" b="0" kern="1200" spc="1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9BB16295-2CE6-A516-8527-E895BD912F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09502" y="5883730"/>
            <a:ext cx="5279236" cy="664027"/>
          </a:xfrm>
        </p:spPr>
        <p:txBody>
          <a:bodyPr lIns="0" anchor="t">
            <a:normAutofit/>
          </a:bodyPr>
          <a:lstStyle>
            <a:lvl1pPr marL="0" indent="0" algn="l">
              <a:buNone/>
              <a:defRPr lang="en-US" sz="1400" b="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82228A6-C5DE-A755-5A92-B53F6AA1B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62209" r="430" b="845"/>
          <a:stretch/>
        </p:blipFill>
        <p:spPr>
          <a:xfrm rot="5400000">
            <a:off x="11092549" y="5460313"/>
            <a:ext cx="1227349" cy="97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087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with Titl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B5D6890-2EFE-4162-E925-FDAB446DD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2736850"/>
            <a:ext cx="12192000" cy="4121150"/>
          </a:xfrm>
          <a:prstGeom prst="rect">
            <a:avLst/>
          </a:prstGeom>
          <a:solidFill>
            <a:schemeClr val="accent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1EA913-1C41-0E26-60E1-0458172DD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alphaModFix amt="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736"/>
          <a:stretch/>
        </p:blipFill>
        <p:spPr>
          <a:xfrm rot="10800000" flipV="1">
            <a:off x="5644581" y="-7646"/>
            <a:ext cx="6547419" cy="686564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EAA5C59-8D1E-6B6F-4640-8F9A700A8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alphaModFix amt="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4367" b="-6266"/>
          <a:stretch/>
        </p:blipFill>
        <p:spPr>
          <a:xfrm rot="5400000" flipV="1">
            <a:off x="63141" y="-70784"/>
            <a:ext cx="4163783" cy="429006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997E53A-1A39-DF71-6DD3-4C26BF7174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469" y="5331961"/>
            <a:ext cx="3429679" cy="551768"/>
          </a:xfrm>
        </p:spPr>
        <p:txBody>
          <a:bodyPr lIns="0" anchor="t">
            <a:noAutofit/>
          </a:bodyPr>
          <a:lstStyle>
            <a:lvl1pPr algn="l">
              <a:defRPr lang="en-US" sz="2000" b="0" kern="1200" spc="1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ntent Placeholder 16">
            <a:extLst>
              <a:ext uri="{FF2B5EF4-FFF2-40B4-BE49-F238E27FC236}">
                <a16:creationId xmlns:a16="http://schemas.microsoft.com/office/drawing/2014/main" id="{DC4D0A5C-7796-AAF8-E639-4A1710EE93C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04057" y="310244"/>
            <a:ext cx="3429682" cy="4716745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16">
            <a:extLst>
              <a:ext uri="{FF2B5EF4-FFF2-40B4-BE49-F238E27FC236}">
                <a16:creationId xmlns:a16="http://schemas.microsoft.com/office/drawing/2014/main" id="{C8CBAF88-D501-00F1-9113-12839FB906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382615" y="310243"/>
            <a:ext cx="3429682" cy="4716745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16">
            <a:extLst>
              <a:ext uri="{FF2B5EF4-FFF2-40B4-BE49-F238E27FC236}">
                <a16:creationId xmlns:a16="http://schemas.microsoft.com/office/drawing/2014/main" id="{BED23468-975F-4D90-B86C-207AC5855E9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058261" y="310244"/>
            <a:ext cx="3429682" cy="4716745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B7F1145E-C173-BDD8-4F72-155D6250D8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2469" y="5883730"/>
            <a:ext cx="3429682" cy="664027"/>
          </a:xfrm>
        </p:spPr>
        <p:txBody>
          <a:bodyPr lIns="0" anchor="t">
            <a:normAutofit/>
          </a:bodyPr>
          <a:lstStyle>
            <a:lvl1pPr marL="0" indent="0" algn="l">
              <a:buNone/>
              <a:defRPr lang="en-US" sz="1400" b="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9BF823A-1C3D-0F85-D743-C61DEF06F1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81159" y="5331961"/>
            <a:ext cx="3429682" cy="551768"/>
          </a:xfrm>
        </p:spPr>
        <p:txBody>
          <a:bodyPr lIns="0" anchor="t">
            <a:noAutofit/>
          </a:bodyPr>
          <a:lstStyle>
            <a:lvl1pPr marL="0" indent="0" algn="l">
              <a:buNone/>
              <a:defRPr lang="en-US" sz="2000" b="0" kern="1200" spc="1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A648C783-D079-6E13-C1FF-38EBD5103AE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82615" y="5883730"/>
            <a:ext cx="3429682" cy="664027"/>
          </a:xfrm>
        </p:spPr>
        <p:txBody>
          <a:bodyPr lIns="0" anchor="t">
            <a:normAutofit/>
          </a:bodyPr>
          <a:lstStyle>
            <a:lvl1pPr marL="0" indent="0" algn="l">
              <a:buNone/>
              <a:defRPr lang="en-US" sz="1400" b="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4B28A2EA-3D2F-771C-649D-38FA331322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58261" y="5331961"/>
            <a:ext cx="3429682" cy="551768"/>
          </a:xfrm>
        </p:spPr>
        <p:txBody>
          <a:bodyPr lIns="0" anchor="t">
            <a:noAutofit/>
          </a:bodyPr>
          <a:lstStyle>
            <a:lvl1pPr marL="0" indent="0" algn="l">
              <a:buNone/>
              <a:defRPr lang="en-US" sz="2000" b="0" kern="1200" spc="1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6ACC8F0D-A2D7-0D8A-186B-C4C8AA5DE3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59717" y="5883730"/>
            <a:ext cx="3429682" cy="664027"/>
          </a:xfrm>
        </p:spPr>
        <p:txBody>
          <a:bodyPr lIns="0" anchor="t">
            <a:normAutofit/>
          </a:bodyPr>
          <a:lstStyle>
            <a:lvl1pPr marL="0" indent="0" algn="l">
              <a:buNone/>
              <a:defRPr lang="en-US" sz="1400" b="0" kern="1200" spc="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745799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A72122-641A-CA2F-E7AC-6FC3819C5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2736850"/>
            <a:ext cx="12192000" cy="4121150"/>
          </a:xfrm>
          <a:prstGeom prst="rect">
            <a:avLst/>
          </a:prstGeom>
          <a:solidFill>
            <a:schemeClr val="accent1">
              <a:lumMod val="7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9E4C80-6993-C1B1-26E6-463B91EB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alphaModFix amt="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450"/>
          <a:stretch/>
        </p:blipFill>
        <p:spPr>
          <a:xfrm flipV="1">
            <a:off x="1" y="-7646"/>
            <a:ext cx="12192000" cy="68656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369027-A380-3EDB-355B-67F17AC864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469" y="5331961"/>
            <a:ext cx="9613374" cy="361269"/>
          </a:xfrm>
        </p:spPr>
        <p:txBody>
          <a:bodyPr lIns="0" anchor="t">
            <a:noAutofit/>
          </a:bodyPr>
          <a:lstStyle>
            <a:lvl1pPr algn="l">
              <a:defRPr lang="en-US" sz="2000" b="0" kern="1200" spc="100" baseline="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83FB349-AC61-548D-5D7E-37990D16B7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2470" y="310243"/>
            <a:ext cx="10786264" cy="471674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08933BF-A0AD-9306-66A0-8F4D312552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2468" y="5883730"/>
            <a:ext cx="9613383" cy="664027"/>
          </a:xfrm>
        </p:spPr>
        <p:txBody>
          <a:bodyPr lIns="0" anchor="t">
            <a:normAutofit/>
          </a:bodyPr>
          <a:lstStyle>
            <a:lvl1pPr marL="0" indent="0" algn="l">
              <a:buNone/>
              <a:defRPr lang="en-US" sz="1400" b="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en-US" sz="1200" b="0" kern="1200" spc="3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en-US" sz="1200" b="0" kern="1200" spc="3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11C231F-6109-C5C5-47F4-03434EDB97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6856" r="430" b="-4515"/>
          <a:stretch/>
        </p:blipFill>
        <p:spPr>
          <a:xfrm rot="5400000">
            <a:off x="10557245" y="4925010"/>
            <a:ext cx="1227349" cy="204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99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AA8595-5E1A-945B-48C0-A787C7AB3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A6D0E-99FB-9E9C-1CDE-F0C4727EB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91B16-3DFB-505A-9B6D-A3F8632A20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32DAAB-1D55-4415-AB44-B6515C192A86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E23EA5-DB4A-74DA-ED8F-F7874CF041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8F339-2527-B263-0B79-347AAB28C5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3B302-7AB2-46D1-9DDF-1AE20667F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02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68" r:id="rId3"/>
    <p:sldLayoutId id="2147483660" r:id="rId4"/>
    <p:sldLayoutId id="2147483661" r:id="rId5"/>
    <p:sldLayoutId id="2147483664" r:id="rId6"/>
    <p:sldLayoutId id="214748366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F5A7-4BCE-88CA-2347-16B9E7920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6066" y="4022920"/>
            <a:ext cx="6319769" cy="1535027"/>
          </a:xfrm>
        </p:spPr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Food Delivery System</a:t>
            </a:r>
          </a:p>
        </p:txBody>
      </p:sp>
      <p:pic>
        <p:nvPicPr>
          <p:cNvPr id="12" name="Picture Placeholder 11" descr="A plate of vegetables and cheese">
            <a:extLst>
              <a:ext uri="{FF2B5EF4-FFF2-40B4-BE49-F238E27FC236}">
                <a16:creationId xmlns:a16="http://schemas.microsoft.com/office/drawing/2014/main" id="{B3E07CBA-D814-7D3C-4D62-FA15A2613EB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2" b="112"/>
          <a:stretch/>
        </p:blipFill>
        <p:spPr>
          <a:xfrm>
            <a:off x="6685835" y="1048054"/>
            <a:ext cx="4840129" cy="4840129"/>
          </a:xfr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5CC4AE62-CFEB-2FE5-E607-B4B22BF0B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6010273" y="531603"/>
            <a:ext cx="1232643" cy="2629639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43A3FD4A-7159-F7A4-5C1F-3B488ADE7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6925"/>
          <a:stretch/>
        </p:blipFill>
        <p:spPr>
          <a:xfrm rot="5400000">
            <a:off x="10794021" y="4159968"/>
            <a:ext cx="1092624" cy="17033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D28811-1B73-BA64-08A0-8F0E401C646F}"/>
              </a:ext>
            </a:extLst>
          </p:cNvPr>
          <p:cNvSpPr txBox="1"/>
          <p:nvPr/>
        </p:nvSpPr>
        <p:spPr>
          <a:xfrm>
            <a:off x="366066" y="5743308"/>
            <a:ext cx="5220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– 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- 5</a:t>
            </a:r>
          </a:p>
        </p:txBody>
      </p:sp>
    </p:spTree>
    <p:extLst>
      <p:ext uri="{BB962C8B-B14F-4D97-AF65-F5344CB8AC3E}">
        <p14:creationId xmlns:p14="http://schemas.microsoft.com/office/powerpoint/2010/main" val="2404352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group of food on plates">
            <a:extLst>
              <a:ext uri="{FF2B5EF4-FFF2-40B4-BE49-F238E27FC236}">
                <a16:creationId xmlns:a16="http://schemas.microsoft.com/office/drawing/2014/main" id="{E507965F-C6A8-DC70-FA03-557ED83CEE3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5794" y="1048054"/>
            <a:ext cx="4840129" cy="4840129"/>
          </a:xfr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813E3CC-9660-C2CE-5168-46F416A14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5081851" y="4387323"/>
            <a:ext cx="1232643" cy="262963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8AF6F4B-8799-BEA6-09AE-47F3D8741B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0504"/>
          <a:stretch/>
        </p:blipFill>
        <p:spPr>
          <a:xfrm rot="16200000">
            <a:off x="428914" y="115386"/>
            <a:ext cx="1232643" cy="20904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96F654-B4BD-26B5-A8EF-5F3BD4C58BE6}"/>
              </a:ext>
            </a:extLst>
          </p:cNvPr>
          <p:cNvSpPr txBox="1"/>
          <p:nvPr/>
        </p:nvSpPr>
        <p:spPr>
          <a:xfrm>
            <a:off x="7300435" y="1704512"/>
            <a:ext cx="4225771" cy="4068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TEAM MEMBERS</a:t>
            </a:r>
          </a:p>
          <a:p>
            <a:endParaRPr lang="en-US" sz="3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Deepak Kumar – 2603968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Dharani Timmanna Komar – 2605910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Bhogaraju Sai Bharadwaj – 2604138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Bavasree C – 2603976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Aswin Jaya Surya – 2605068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Aishwarya X – 2605098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Aniket Singh - 2605511</a:t>
            </a:r>
          </a:p>
        </p:txBody>
      </p:sp>
    </p:spTree>
    <p:extLst>
      <p:ext uri="{BB962C8B-B14F-4D97-AF65-F5344CB8AC3E}">
        <p14:creationId xmlns:p14="http://schemas.microsoft.com/office/powerpoint/2010/main" val="3845746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A bowl of food with a spoon">
            <a:extLst>
              <a:ext uri="{FF2B5EF4-FFF2-40B4-BE49-F238E27FC236}">
                <a16:creationId xmlns:a16="http://schemas.microsoft.com/office/drawing/2014/main" id="{721AB3BC-0B5B-01E9-D1FC-00CA0691997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2" b="32"/>
          <a:stretch/>
        </p:blipFill>
        <p:spPr>
          <a:xfrm>
            <a:off x="8275122" y="3760552"/>
            <a:ext cx="2910743" cy="2600612"/>
          </a:xfrm>
        </p:spPr>
      </p:pic>
      <p:pic>
        <p:nvPicPr>
          <p:cNvPr id="26" name="Picture Placeholder 25" descr="A person holding a bowl of food">
            <a:extLst>
              <a:ext uri="{FF2B5EF4-FFF2-40B4-BE49-F238E27FC236}">
                <a16:creationId xmlns:a16="http://schemas.microsoft.com/office/drawing/2014/main" id="{6D7B95FB-2348-7ED6-4CB3-DE08C8FC1C1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7" b="47"/>
          <a:stretch/>
        </p:blipFill>
        <p:spPr>
          <a:xfrm>
            <a:off x="8275122" y="828388"/>
            <a:ext cx="2910743" cy="2600612"/>
          </a:xfr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B28328E6-7A3E-B28B-E436-3B4D78F9C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30" b="36705"/>
          <a:stretch/>
        </p:blipFill>
        <p:spPr>
          <a:xfrm rot="5400000">
            <a:off x="218544" y="421006"/>
            <a:ext cx="1227349" cy="16644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8CF6F5-9FBF-964C-F23B-0EAD82818ABC}"/>
              </a:ext>
            </a:extLst>
          </p:cNvPr>
          <p:cNvSpPr txBox="1"/>
          <p:nvPr/>
        </p:nvSpPr>
        <p:spPr>
          <a:xfrm>
            <a:off x="1779848" y="999953"/>
            <a:ext cx="4989251" cy="5361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Table of Contents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Problem Statement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Objectives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Introduction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Technologies Stack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Strategy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ER Diagram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Module Functionality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Abstract Modules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Future Enhancement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Pros &amp; Cons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Conclusion </a:t>
            </a:r>
          </a:p>
        </p:txBody>
      </p:sp>
    </p:spTree>
    <p:extLst>
      <p:ext uri="{BB962C8B-B14F-4D97-AF65-F5344CB8AC3E}">
        <p14:creationId xmlns:p14="http://schemas.microsoft.com/office/powerpoint/2010/main" val="2588810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CAA8108-1481-D859-23FE-DB29F347E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081851" y="4387323"/>
            <a:ext cx="1232643" cy="262963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13F4734-2560-3AF9-C0D5-7F6C4B785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0504"/>
          <a:stretch/>
        </p:blipFill>
        <p:spPr>
          <a:xfrm rot="16200000">
            <a:off x="428914" y="115386"/>
            <a:ext cx="1232643" cy="2090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D18FCC-D235-55AA-4066-5AE514C06DF7}"/>
              </a:ext>
            </a:extLst>
          </p:cNvPr>
          <p:cNvSpPr txBox="1"/>
          <p:nvPr/>
        </p:nvSpPr>
        <p:spPr>
          <a:xfrm>
            <a:off x="3604335" y="1019142"/>
            <a:ext cx="3913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Problem Statement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2B80D4-7916-9A6C-2D06-476A41CCB531}"/>
              </a:ext>
            </a:extLst>
          </p:cNvPr>
          <p:cNvSpPr txBox="1"/>
          <p:nvPr/>
        </p:nvSpPr>
        <p:spPr>
          <a:xfrm>
            <a:off x="665825" y="2059619"/>
            <a:ext cx="10324730" cy="2960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Foodbox, a restaurant chain established in 2014, has experienced a decline in sales since 2016 due to increasing competition from online food delivery services like Swiggy and </a:t>
            </a:r>
            <a:r>
              <a:rPr lang="en-US" dirty="0" err="1"/>
              <a:t>Foodpanda</a:t>
            </a:r>
            <a:r>
              <a:rPr lang="en-US" dirty="0"/>
              <a:t>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These competitors have successfully streamlined their operations by eliminating middlemen, which has allowed them to offer better pricing and convenience to customers.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 remain competitive and recapture market share, Foodbox needs to develop a robust online food delivery web application that provides a user-friendly experience, facilitates secure transactions, and maintains comprehensive records of products and categories.</a:t>
            </a:r>
          </a:p>
        </p:txBody>
      </p:sp>
    </p:spTree>
    <p:extLst>
      <p:ext uri="{BB962C8B-B14F-4D97-AF65-F5344CB8AC3E}">
        <p14:creationId xmlns:p14="http://schemas.microsoft.com/office/powerpoint/2010/main" val="3037627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13F4734-2560-3AF9-C0D5-7F6C4B785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0504"/>
          <a:stretch/>
        </p:blipFill>
        <p:spPr>
          <a:xfrm rot="16200000">
            <a:off x="428914" y="115386"/>
            <a:ext cx="1232643" cy="2090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D18FCC-D235-55AA-4066-5AE514C06DF7}"/>
              </a:ext>
            </a:extLst>
          </p:cNvPr>
          <p:cNvSpPr txBox="1"/>
          <p:nvPr/>
        </p:nvSpPr>
        <p:spPr>
          <a:xfrm>
            <a:off x="3604335" y="1019142"/>
            <a:ext cx="3913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2B80D4-7916-9A6C-2D06-476A41CCB531}"/>
              </a:ext>
            </a:extLst>
          </p:cNvPr>
          <p:cNvSpPr txBox="1"/>
          <p:nvPr/>
        </p:nvSpPr>
        <p:spPr>
          <a:xfrm>
            <a:off x="825622" y="1776944"/>
            <a:ext cx="1032473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Develop a Bug-Free System: </a:t>
            </a:r>
            <a:r>
              <a:rPr lang="en-US" dirty="0"/>
              <a:t>Create a reliable online food delivery platform that minimizes errors and ensures a seamless experience for both users and administrators.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Maintain Product and Category Records: </a:t>
            </a:r>
            <a:r>
              <a:rPr lang="en-US" dirty="0"/>
              <a:t>Establish a system for efficiently managing and updating records of products and categories available for order, ensuring accurate and up-to-date information for users.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Enhance User Experience:</a:t>
            </a:r>
            <a:r>
              <a:rPr lang="en-US" dirty="0"/>
              <a:t> Design an intuitive interface that simplifies the ordering process, making it easy for customers to navigate the menu and place orders.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Facilitate Administrative Management: </a:t>
            </a:r>
            <a:r>
              <a:rPr lang="en-US" dirty="0"/>
              <a:t>Create an admin dashboard that allows for easy management of products, categories, and order processing.</a:t>
            </a:r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/>
              <a:t>Enable Scalability: </a:t>
            </a:r>
            <a:r>
              <a:rPr lang="en-US" dirty="0"/>
              <a:t>Design the application to accommodate future growth, allowing for an increasing number of users and expanding menu options.</a:t>
            </a:r>
          </a:p>
        </p:txBody>
      </p:sp>
    </p:spTree>
    <p:extLst>
      <p:ext uri="{BB962C8B-B14F-4D97-AF65-F5344CB8AC3E}">
        <p14:creationId xmlns:p14="http://schemas.microsoft.com/office/powerpoint/2010/main" val="1672606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16B9-7CE0-E821-2349-D00B35D73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3829" y="1631491"/>
            <a:ext cx="5024521" cy="294963"/>
          </a:xfrm>
        </p:spPr>
        <p:txBody>
          <a:bodyPr/>
          <a:lstStyle/>
          <a:p>
            <a:r>
              <a:rPr lang="en-US" sz="1800" b="1" dirty="0"/>
              <a:t>About the restaurant </a:t>
            </a:r>
            <a:br>
              <a:rPr lang="en-US" sz="2800" dirty="0"/>
            </a:br>
            <a:br>
              <a:rPr lang="en-US" sz="2800" dirty="0"/>
            </a:br>
            <a:br>
              <a:rPr lang="en-US" sz="1800" dirty="0"/>
            </a:br>
            <a:endParaRPr lang="en-US" sz="18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CAA8108-1481-D859-23FE-DB29F347E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081851" y="4387323"/>
            <a:ext cx="1232643" cy="262963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13F4734-2560-3AF9-C0D5-7F6C4B785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0504"/>
          <a:stretch/>
        </p:blipFill>
        <p:spPr>
          <a:xfrm rot="16200000">
            <a:off x="428914" y="115386"/>
            <a:ext cx="1232643" cy="20904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D18FCC-D235-55AA-4066-5AE514C06DF7}"/>
              </a:ext>
            </a:extLst>
          </p:cNvPr>
          <p:cNvSpPr txBox="1"/>
          <p:nvPr/>
        </p:nvSpPr>
        <p:spPr>
          <a:xfrm>
            <a:off x="6563829" y="736847"/>
            <a:ext cx="4000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FOODBOX</a:t>
            </a:r>
          </a:p>
        </p:txBody>
      </p:sp>
      <p:pic>
        <p:nvPicPr>
          <p:cNvPr id="9" name="Picture Placeholder 8" descr="A logo for a restaurant&#10;&#10;Description automatically generated">
            <a:extLst>
              <a:ext uri="{FF2B5EF4-FFF2-40B4-BE49-F238E27FC236}">
                <a16:creationId xmlns:a16="http://schemas.microsoft.com/office/drawing/2014/main" id="{8D8C9DED-2ADC-35BD-71C4-9DFC34926B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/>
          <a:stretch/>
        </p:blipFill>
        <p:spPr/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E2F5668-E489-FBF9-CB98-F10D054455DF}"/>
              </a:ext>
            </a:extLst>
          </p:cNvPr>
          <p:cNvSpPr txBox="1">
            <a:spLocks/>
          </p:cNvSpPr>
          <p:nvPr/>
        </p:nvSpPr>
        <p:spPr>
          <a:xfrm>
            <a:off x="6563828" y="2002915"/>
            <a:ext cx="5024521" cy="2928632"/>
          </a:xfrm>
          <a:prstGeom prst="rect">
            <a:avLst/>
          </a:prstGeom>
        </p:spPr>
        <p:txBody>
          <a:bodyPr vert="horz" lIns="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6600" kern="1200" spc="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00000"/>
              </a:lnSpc>
            </a:pPr>
            <a:r>
              <a:rPr lang="en-US" sz="1800" dirty="0">
                <a:latin typeface="+mn-lt"/>
              </a:rPr>
              <a:t>At Foodbox, we blend culinary excellence with the ease of enjoying exceptional meals from home. </a:t>
            </a:r>
          </a:p>
          <a:p>
            <a:pPr algn="just">
              <a:lnSpc>
                <a:spcPct val="100000"/>
              </a:lnSpc>
            </a:pPr>
            <a:endParaRPr lang="en-US" sz="1800" dirty="0">
              <a:latin typeface="+mn-lt"/>
            </a:endParaRPr>
          </a:p>
          <a:p>
            <a:pPr algn="just">
              <a:lnSpc>
                <a:spcPct val="100000"/>
              </a:lnSpc>
            </a:pPr>
            <a:r>
              <a:rPr lang="en-US" sz="1800" dirty="0">
                <a:latin typeface="+mn-lt"/>
              </a:rPr>
              <a:t>Our commitment to high-quality ingredients and masterful preparation shines through in every dish, bringing the elegance of our restaurant directly to you.</a:t>
            </a:r>
          </a:p>
          <a:p>
            <a:pPr algn="just">
              <a:lnSpc>
                <a:spcPct val="100000"/>
              </a:lnSpc>
            </a:pPr>
            <a:r>
              <a:rPr lang="en-US" sz="1800" dirty="0">
                <a:latin typeface="+mn-lt"/>
              </a:rPr>
              <a:t> </a:t>
            </a:r>
          </a:p>
          <a:p>
            <a:pPr algn="just">
              <a:lnSpc>
                <a:spcPct val="100000"/>
              </a:lnSpc>
            </a:pPr>
            <a:r>
              <a:rPr lang="en-US" sz="1800" dirty="0">
                <a:latin typeface="+mn-lt"/>
              </a:rPr>
              <a:t>Whether you're celebrating a special occasion or simply enjoying a delightful meal, our dedication to impeccable flavors and attention to detail ensures a truly memorable culinary experience right at your doorstep.</a:t>
            </a:r>
            <a:br>
              <a:rPr lang="en-US" sz="2800" dirty="0">
                <a:latin typeface="+mn-lt"/>
              </a:rPr>
            </a:br>
            <a:br>
              <a:rPr lang="en-US" sz="2800" dirty="0">
                <a:latin typeface="+mn-lt"/>
              </a:rPr>
            </a:br>
            <a:br>
              <a:rPr lang="en-US" sz="1800" dirty="0">
                <a:latin typeface="+mn-lt"/>
              </a:rPr>
            </a:b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91665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plate of food on a table">
            <a:extLst>
              <a:ext uri="{FF2B5EF4-FFF2-40B4-BE49-F238E27FC236}">
                <a16:creationId xmlns:a16="http://schemas.microsoft.com/office/drawing/2014/main" id="{14D87AEE-DC14-605B-B289-AE223DE914F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80519" y="550416"/>
            <a:ext cx="2635055" cy="3391270"/>
          </a:xfr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9DCB8EB7-2AC0-7905-1235-6742F014D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r="1285" b="1452"/>
          <a:stretch/>
        </p:blipFill>
        <p:spPr>
          <a:xfrm rot="5400000">
            <a:off x="3900458" y="204761"/>
            <a:ext cx="733479" cy="1562099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A4808043-4E5C-32D5-CB20-2167795AC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r="1285" b="1452"/>
          <a:stretch/>
        </p:blipFill>
        <p:spPr>
          <a:xfrm rot="16200000">
            <a:off x="7636202" y="3852617"/>
            <a:ext cx="593344" cy="126365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4E8F743-0266-46DC-6C48-10FB910A2F47}"/>
              </a:ext>
            </a:extLst>
          </p:cNvPr>
          <p:cNvSpPr txBox="1"/>
          <p:nvPr/>
        </p:nvSpPr>
        <p:spPr>
          <a:xfrm>
            <a:off x="1120249" y="1601348"/>
            <a:ext cx="4731798" cy="4387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Technology Stack</a:t>
            </a:r>
          </a:p>
          <a:p>
            <a:endParaRPr lang="en-US" sz="3600" b="1" dirty="0"/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Front-End : HTML , CSS , Angular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Back-end : SpringBoot , Hibernate 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Server : Tomcat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Testing : Postman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Database : MYSQL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Version Control : Git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Editors : STS , VsCode</a:t>
            </a:r>
          </a:p>
        </p:txBody>
      </p:sp>
    </p:spTree>
    <p:extLst>
      <p:ext uri="{BB962C8B-B14F-4D97-AF65-F5344CB8AC3E}">
        <p14:creationId xmlns:p14="http://schemas.microsoft.com/office/powerpoint/2010/main" val="83120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plate of brownies and a knife">
            <a:extLst>
              <a:ext uri="{FF2B5EF4-FFF2-40B4-BE49-F238E27FC236}">
                <a16:creationId xmlns:a16="http://schemas.microsoft.com/office/drawing/2014/main" id="{8AFEC5C7-DCA1-E6AF-89A5-82A56E74942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" b="43"/>
          <a:stretch/>
        </p:blipFill>
        <p:spPr>
          <a:xfrm>
            <a:off x="665794" y="1048054"/>
            <a:ext cx="4840129" cy="4840129"/>
          </a:xfr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5226E23-AA14-D475-E844-1A986A30E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5081851" y="4387323"/>
            <a:ext cx="1232643" cy="262963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2E24927A-4FA9-F8F6-FB43-06DDD04A1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0504"/>
          <a:stretch/>
        </p:blipFill>
        <p:spPr>
          <a:xfrm rot="16200000">
            <a:off x="428914" y="115386"/>
            <a:ext cx="1232643" cy="20904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BE11F4-2F23-37AE-675F-CAF97D611D84}"/>
              </a:ext>
            </a:extLst>
          </p:cNvPr>
          <p:cNvSpPr txBox="1"/>
          <p:nvPr/>
        </p:nvSpPr>
        <p:spPr>
          <a:xfrm>
            <a:off x="7078462" y="735011"/>
            <a:ext cx="5113538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STRATEGY</a:t>
            </a:r>
          </a:p>
          <a:p>
            <a:br>
              <a:rPr lang="en-US" sz="2400" b="1" dirty="0"/>
            </a:br>
            <a:r>
              <a:rPr lang="en-US" sz="2400" b="1" dirty="0"/>
              <a:t> </a:t>
            </a:r>
            <a:r>
              <a:rPr lang="en-US" b="1" dirty="0"/>
              <a:t>Improved User Experience 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Responsive Design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Engaging Sections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Accessible Assistance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r>
              <a:rPr lang="en-US" dirty="0"/>
              <a:t> </a:t>
            </a:r>
            <a:r>
              <a:rPr lang="en-US" b="1" dirty="0"/>
              <a:t>Admin Portal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Efficient management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Streamlined Control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Responsive Query Handling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r>
              <a:rPr lang="en-US" dirty="0"/>
              <a:t> </a:t>
            </a:r>
            <a:r>
              <a:rPr lang="en-US" b="1" dirty="0"/>
              <a:t>User Interaction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Query Assistance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Secure Access Control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Interactive Experience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r>
              <a:rPr lang="en-US" dirty="0"/>
              <a:t> </a:t>
            </a:r>
            <a:r>
              <a:rPr lang="en-US" b="1" dirty="0"/>
              <a:t>Key Initiatives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User-friendly Registrations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Customized Orders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Smooth payment process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373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292F077-DA18-4D8C-B96E-E24322C02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898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43D5696-7CE1-5A4B-4E1A-C1628F2F6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22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7491805-6879-E68B-6749-7BA49D661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565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D37FB5-0C07-BB1F-73AC-945FC4446BB0}"/>
              </a:ext>
            </a:extLst>
          </p:cNvPr>
          <p:cNvSpPr txBox="1"/>
          <p:nvPr/>
        </p:nvSpPr>
        <p:spPr>
          <a:xfrm>
            <a:off x="1560689" y="320815"/>
            <a:ext cx="1375558" cy="2516743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>
                <a:latin typeface="Times New Roman"/>
                <a:cs typeface="Times New Roman"/>
              </a:rPr>
              <a:t>Order</a:t>
            </a:r>
            <a:endParaRPr lang="en-US" sz="1000"/>
          </a:p>
          <a:p>
            <a:endParaRPr lang="en-US" sz="1000">
              <a:latin typeface="Times New Roman"/>
              <a:cs typeface="Times New Roman"/>
            </a:endParaRPr>
          </a:p>
          <a:p>
            <a:r>
              <a:rPr lang="en-US" sz="1000" err="1">
                <a:latin typeface="Times New Roman"/>
                <a:cs typeface="Times New Roman"/>
              </a:rPr>
              <a:t>Orderid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 err="1">
                <a:latin typeface="Times New Roman"/>
                <a:cs typeface="Times New Roman"/>
              </a:rPr>
              <a:t>Userid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>
                <a:latin typeface="Times New Roman"/>
                <a:cs typeface="Times New Roman"/>
              </a:rPr>
              <a:t>Name,</a:t>
            </a:r>
          </a:p>
          <a:p>
            <a:r>
              <a:rPr lang="en-US" sz="1000">
                <a:latin typeface="Times New Roman"/>
                <a:cs typeface="Times New Roman"/>
              </a:rPr>
              <a:t>Email,</a:t>
            </a:r>
          </a:p>
          <a:p>
            <a:r>
              <a:rPr lang="en-US" sz="1000">
                <a:latin typeface="Times New Roman"/>
                <a:cs typeface="Times New Roman"/>
              </a:rPr>
              <a:t>Contact,</a:t>
            </a:r>
          </a:p>
          <a:p>
            <a:r>
              <a:rPr lang="en-US" sz="1000">
                <a:latin typeface="Times New Roman"/>
                <a:cs typeface="Times New Roman"/>
              </a:rPr>
              <a:t>Amount,</a:t>
            </a:r>
          </a:p>
          <a:p>
            <a:r>
              <a:rPr lang="en-US" sz="1000">
                <a:latin typeface="Times New Roman"/>
                <a:cs typeface="Times New Roman"/>
              </a:rPr>
              <a:t>Address,</a:t>
            </a:r>
          </a:p>
          <a:p>
            <a:r>
              <a:rPr lang="en-US" sz="1000">
                <a:latin typeface="Times New Roman"/>
                <a:cs typeface="Times New Roman"/>
              </a:rPr>
              <a:t>City,</a:t>
            </a:r>
          </a:p>
          <a:p>
            <a:r>
              <a:rPr lang="en-US" sz="1000">
                <a:latin typeface="Times New Roman"/>
                <a:cs typeface="Times New Roman"/>
              </a:rPr>
              <a:t>State,</a:t>
            </a:r>
          </a:p>
          <a:p>
            <a:r>
              <a:rPr lang="en-US" sz="1000">
                <a:latin typeface="Times New Roman"/>
                <a:cs typeface="Times New Roman"/>
              </a:rPr>
              <a:t>Zip,</a:t>
            </a:r>
          </a:p>
          <a:p>
            <a:r>
              <a:rPr lang="en-US" sz="1000" err="1">
                <a:latin typeface="Times New Roman"/>
                <a:cs typeface="Times New Roman"/>
              </a:rPr>
              <a:t>PaymentMethod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 err="1">
                <a:latin typeface="Times New Roman"/>
                <a:cs typeface="Times New Roman"/>
              </a:rPr>
              <a:t>PaymentId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 err="1">
                <a:latin typeface="Times New Roman"/>
                <a:cs typeface="Times New Roman"/>
              </a:rPr>
              <a:t>OrderDate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4649D-40E9-D552-0E22-4CD6C6EA51C7}"/>
              </a:ext>
            </a:extLst>
          </p:cNvPr>
          <p:cNvSpPr txBox="1"/>
          <p:nvPr/>
        </p:nvSpPr>
        <p:spPr>
          <a:xfrm>
            <a:off x="5015244" y="1717779"/>
            <a:ext cx="1475343" cy="1123712"/>
          </a:xfrm>
          <a:prstGeom prst="round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>
                <a:latin typeface="Times New Roman"/>
                <a:cs typeface="Times New Roman"/>
              </a:rPr>
              <a:t>Review</a:t>
            </a:r>
          </a:p>
          <a:p>
            <a:endParaRPr lang="en-US" sz="1000">
              <a:latin typeface="Times New Roman"/>
              <a:cs typeface="Times New Roman"/>
            </a:endParaRPr>
          </a:p>
          <a:p>
            <a:r>
              <a:rPr lang="en-US" sz="1000" err="1">
                <a:latin typeface="Times New Roman"/>
                <a:cs typeface="Times New Roman"/>
              </a:rPr>
              <a:t>ReviewId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 err="1">
                <a:latin typeface="Times New Roman"/>
                <a:cs typeface="Times New Roman"/>
              </a:rPr>
              <a:t>ReviewName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 err="1">
                <a:latin typeface="Times New Roman"/>
                <a:cs typeface="Times New Roman"/>
              </a:rPr>
              <a:t>ReviewComment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 err="1">
                <a:latin typeface="Times New Roman"/>
                <a:cs typeface="Times New Roman"/>
              </a:rPr>
              <a:t>ReviewStar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31D1D8-9A90-748D-145E-962C4DBC35AB}"/>
              </a:ext>
            </a:extLst>
          </p:cNvPr>
          <p:cNvSpPr txBox="1"/>
          <p:nvPr/>
        </p:nvSpPr>
        <p:spPr>
          <a:xfrm>
            <a:off x="8871066" y="1570215"/>
            <a:ext cx="1112486" cy="12713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err="1">
                <a:latin typeface="Times New Roman"/>
                <a:cs typeface="Times New Roman"/>
              </a:rPr>
              <a:t>ContactForm</a:t>
            </a:r>
            <a:endParaRPr lang="en-US" sz="1000">
              <a:latin typeface="Times New Roman"/>
              <a:cs typeface="Times New Roman"/>
            </a:endParaRPr>
          </a:p>
          <a:p>
            <a:endParaRPr lang="en-US" sz="1000">
              <a:latin typeface="Times New Roman"/>
              <a:cs typeface="Times New Roman"/>
            </a:endParaRPr>
          </a:p>
          <a:p>
            <a:r>
              <a:rPr lang="en-US" sz="1000" err="1">
                <a:latin typeface="Times New Roman"/>
                <a:cs typeface="Times New Roman"/>
              </a:rPr>
              <a:t>ContactFormId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>
                <a:latin typeface="Times New Roman"/>
                <a:cs typeface="Times New Roman"/>
              </a:rPr>
              <a:t>Name,</a:t>
            </a:r>
          </a:p>
          <a:p>
            <a:r>
              <a:rPr lang="en-US" sz="1000">
                <a:latin typeface="Times New Roman"/>
                <a:cs typeface="Times New Roman"/>
              </a:rPr>
              <a:t>E-mail,</a:t>
            </a:r>
          </a:p>
          <a:p>
            <a:r>
              <a:rPr lang="en-US" sz="1000">
                <a:latin typeface="Times New Roman"/>
                <a:cs typeface="Times New Roman"/>
              </a:rPr>
              <a:t>Subject,</a:t>
            </a:r>
          </a:p>
          <a:p>
            <a:r>
              <a:rPr lang="en-US" sz="1000">
                <a:latin typeface="Times New Roman"/>
                <a:cs typeface="Times New Roman"/>
              </a:rPr>
              <a:t>Message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682965-EFDC-547A-6592-A4244C40F428}"/>
              </a:ext>
            </a:extLst>
          </p:cNvPr>
          <p:cNvSpPr txBox="1"/>
          <p:nvPr/>
        </p:nvSpPr>
        <p:spPr>
          <a:xfrm>
            <a:off x="6829087" y="3232727"/>
            <a:ext cx="1121558" cy="12849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>
                <a:latin typeface="Times New Roman"/>
                <a:cs typeface="Times New Roman"/>
              </a:rPr>
              <a:t>User</a:t>
            </a:r>
          </a:p>
          <a:p>
            <a:endParaRPr lang="en-US" sz="1000">
              <a:latin typeface="Times New Roman"/>
              <a:cs typeface="Times New Roman"/>
            </a:endParaRPr>
          </a:p>
          <a:p>
            <a:r>
              <a:rPr lang="en-US" sz="1000" err="1">
                <a:latin typeface="Times New Roman"/>
                <a:cs typeface="Times New Roman"/>
              </a:rPr>
              <a:t>UserId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>
                <a:latin typeface="Times New Roman"/>
                <a:cs typeface="Times New Roman"/>
              </a:rPr>
              <a:t>Name,</a:t>
            </a:r>
          </a:p>
          <a:p>
            <a:r>
              <a:rPr lang="en-US" sz="1000">
                <a:latin typeface="Times New Roman"/>
                <a:cs typeface="Times New Roman"/>
              </a:rPr>
              <a:t>E-mail,</a:t>
            </a:r>
          </a:p>
          <a:p>
            <a:r>
              <a:rPr lang="en-US" sz="1000" err="1">
                <a:latin typeface="Times New Roman"/>
                <a:cs typeface="Times New Roman"/>
              </a:rPr>
              <a:t>MobileNumber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>
                <a:latin typeface="Times New Roman"/>
                <a:cs typeface="Times New Roman"/>
              </a:rPr>
              <a:t>Password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3A023D-5775-CA1E-B48D-B6CFDA9C9529}"/>
              </a:ext>
            </a:extLst>
          </p:cNvPr>
          <p:cNvSpPr txBox="1"/>
          <p:nvPr/>
        </p:nvSpPr>
        <p:spPr>
          <a:xfrm>
            <a:off x="3247025" y="3257810"/>
            <a:ext cx="967344" cy="126003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>
                <a:latin typeface="Times New Roman"/>
                <a:cs typeface="Times New Roman"/>
              </a:rPr>
              <a:t>Admin</a:t>
            </a:r>
          </a:p>
          <a:p>
            <a:endParaRPr lang="en-US" sz="1000">
              <a:latin typeface="Times New Roman"/>
              <a:cs typeface="Times New Roman"/>
            </a:endParaRPr>
          </a:p>
          <a:p>
            <a:r>
              <a:rPr lang="en-US" sz="1000" err="1">
                <a:latin typeface="Times New Roman"/>
                <a:cs typeface="Times New Roman"/>
              </a:rPr>
              <a:t>AdminId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>
                <a:latin typeface="Times New Roman"/>
                <a:cs typeface="Times New Roman"/>
              </a:rPr>
              <a:t>Name,</a:t>
            </a:r>
          </a:p>
          <a:p>
            <a:r>
              <a:rPr lang="en-US" sz="1000">
                <a:latin typeface="Times New Roman"/>
                <a:cs typeface="Times New Roman"/>
              </a:rPr>
              <a:t>E-mail,</a:t>
            </a:r>
          </a:p>
          <a:p>
            <a:r>
              <a:rPr lang="en-US" sz="1000" err="1">
                <a:latin typeface="Times New Roman"/>
                <a:cs typeface="Times New Roman"/>
              </a:rPr>
              <a:t>EmployeeId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>
                <a:latin typeface="Times New Roman"/>
                <a:cs typeface="Times New Roman"/>
              </a:rPr>
              <a:t>Password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2923C-D108-E653-FB0A-7B0F588B036D}"/>
              </a:ext>
            </a:extLst>
          </p:cNvPr>
          <p:cNvSpPr txBox="1"/>
          <p:nvPr/>
        </p:nvSpPr>
        <p:spPr>
          <a:xfrm>
            <a:off x="1755938" y="4616814"/>
            <a:ext cx="994557" cy="78319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>
                <a:latin typeface="Times New Roman"/>
                <a:cs typeface="Times New Roman"/>
              </a:rPr>
              <a:t>Category</a:t>
            </a:r>
          </a:p>
          <a:p>
            <a:endParaRPr lang="en-US" sz="1000">
              <a:latin typeface="Times New Roman"/>
              <a:cs typeface="Times New Roman"/>
            </a:endParaRPr>
          </a:p>
          <a:p>
            <a:r>
              <a:rPr lang="en-US" sz="1000" err="1">
                <a:latin typeface="Times New Roman"/>
                <a:cs typeface="Times New Roman"/>
              </a:rPr>
              <a:t>CategoryId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>
                <a:latin typeface="Times New Roman"/>
                <a:cs typeface="Times New Roman"/>
              </a:rPr>
              <a:t>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FE029F-6793-E319-83CD-BEAA747503AE}"/>
              </a:ext>
            </a:extLst>
          </p:cNvPr>
          <p:cNvSpPr txBox="1"/>
          <p:nvPr/>
        </p:nvSpPr>
        <p:spPr>
          <a:xfrm>
            <a:off x="5019549" y="4519148"/>
            <a:ext cx="1566057" cy="192321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err="1">
                <a:latin typeface="Times New Roman"/>
                <a:cs typeface="Times New Roman"/>
              </a:rPr>
              <a:t>FoodItem</a:t>
            </a:r>
            <a:endParaRPr lang="en-US" sz="1000">
              <a:latin typeface="Times New Roman"/>
              <a:cs typeface="Times New Roman"/>
            </a:endParaRPr>
          </a:p>
          <a:p>
            <a:endParaRPr lang="en-US" sz="1000">
              <a:latin typeface="Times New Roman"/>
              <a:cs typeface="Times New Roman"/>
            </a:endParaRPr>
          </a:p>
          <a:p>
            <a:r>
              <a:rPr lang="en-US" sz="1000" err="1">
                <a:latin typeface="Times New Roman"/>
                <a:cs typeface="Times New Roman"/>
              </a:rPr>
              <a:t>FoodItemId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 err="1">
                <a:latin typeface="Times New Roman"/>
                <a:cs typeface="Times New Roman"/>
              </a:rPr>
              <a:t>CategoryId</a:t>
            </a:r>
            <a:endParaRPr lang="en-US" sz="1000">
              <a:latin typeface="Times New Roman"/>
              <a:cs typeface="Times New Roman"/>
            </a:endParaRPr>
          </a:p>
          <a:p>
            <a:r>
              <a:rPr lang="en-US" sz="1000">
                <a:latin typeface="Times New Roman"/>
                <a:cs typeface="Times New Roman"/>
              </a:rPr>
              <a:t>Name,</a:t>
            </a:r>
          </a:p>
          <a:p>
            <a:r>
              <a:rPr lang="en-US" sz="1000">
                <a:latin typeface="Times New Roman"/>
                <a:cs typeface="Times New Roman"/>
              </a:rPr>
              <a:t>Description,</a:t>
            </a:r>
          </a:p>
          <a:p>
            <a:r>
              <a:rPr lang="en-US" sz="1000" err="1">
                <a:latin typeface="Times New Roman"/>
                <a:cs typeface="Times New Roman"/>
              </a:rPr>
              <a:t>ActualPrice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>
                <a:latin typeface="Times New Roman"/>
                <a:cs typeface="Times New Roman"/>
              </a:rPr>
              <a:t>Offer,</a:t>
            </a:r>
          </a:p>
          <a:p>
            <a:r>
              <a:rPr lang="en-US" sz="1000" err="1">
                <a:latin typeface="Times New Roman"/>
                <a:cs typeface="Times New Roman"/>
              </a:rPr>
              <a:t>ImagePath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 err="1">
                <a:latin typeface="Times New Roman"/>
                <a:cs typeface="Times New Roman"/>
              </a:rPr>
              <a:t>AvailableQuantity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>
                <a:latin typeface="Times New Roman"/>
                <a:cs typeface="Times New Roman"/>
              </a:rPr>
              <a:t>Enabled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1FB45E-8774-8E4A-B20A-98D7AF197976}"/>
              </a:ext>
            </a:extLst>
          </p:cNvPr>
          <p:cNvSpPr txBox="1"/>
          <p:nvPr/>
        </p:nvSpPr>
        <p:spPr>
          <a:xfrm>
            <a:off x="8867880" y="4521334"/>
            <a:ext cx="1321129" cy="13030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err="1">
                <a:latin typeface="Times New Roman"/>
                <a:cs typeface="Times New Roman"/>
              </a:rPr>
              <a:t>CartItem</a:t>
            </a:r>
            <a:endParaRPr lang="en-US" sz="1000">
              <a:latin typeface="Times New Roman"/>
              <a:cs typeface="Times New Roman"/>
            </a:endParaRPr>
          </a:p>
          <a:p>
            <a:endParaRPr lang="en-US" sz="1000">
              <a:latin typeface="Times New Roman"/>
              <a:cs typeface="Times New Roman"/>
            </a:endParaRPr>
          </a:p>
          <a:p>
            <a:r>
              <a:rPr lang="en-US" sz="1000" err="1">
                <a:latin typeface="Times New Roman"/>
                <a:cs typeface="Times New Roman"/>
              </a:rPr>
              <a:t>CartItemId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 err="1">
                <a:latin typeface="Times New Roman"/>
                <a:cs typeface="Times New Roman"/>
              </a:rPr>
              <a:t>UserId</a:t>
            </a:r>
            <a:r>
              <a:rPr lang="en-US" sz="1000">
                <a:latin typeface="Times New Roman"/>
                <a:cs typeface="Times New Roman"/>
              </a:rPr>
              <a:t>,</a:t>
            </a:r>
          </a:p>
          <a:p>
            <a:r>
              <a:rPr lang="en-US" sz="1000" err="1">
                <a:latin typeface="Times New Roman"/>
                <a:cs typeface="Times New Roman"/>
              </a:rPr>
              <a:t>FoodItemId</a:t>
            </a:r>
            <a:endParaRPr lang="en-US" sz="1000">
              <a:latin typeface="Times New Roman"/>
              <a:cs typeface="Times New Roman"/>
            </a:endParaRPr>
          </a:p>
          <a:p>
            <a:r>
              <a:rPr lang="en-US" sz="1000">
                <a:latin typeface="Times New Roman"/>
                <a:cs typeface="Times New Roman"/>
              </a:rPr>
              <a:t>Quantity,</a:t>
            </a:r>
          </a:p>
          <a:p>
            <a:r>
              <a:rPr lang="en-US" sz="1000" err="1">
                <a:latin typeface="Times New Roman"/>
                <a:cs typeface="Times New Roman"/>
              </a:rPr>
              <a:t>TotalFoodItemCost</a:t>
            </a:r>
            <a:endParaRPr lang="en-US" sz="1000">
              <a:latin typeface="Times New Roman"/>
              <a:cs typeface="Times New Roman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FAB8FC9-8671-D6DF-48E2-5396DDB5AC56}"/>
              </a:ext>
            </a:extLst>
          </p:cNvPr>
          <p:cNvCxnSpPr/>
          <p:nvPr/>
        </p:nvCxnSpPr>
        <p:spPr>
          <a:xfrm>
            <a:off x="5012871" y="3516084"/>
            <a:ext cx="1821542" cy="16330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5A7A6E8-4F3C-F486-B5C3-D832F1B4C1A2}"/>
              </a:ext>
            </a:extLst>
          </p:cNvPr>
          <p:cNvCxnSpPr/>
          <p:nvPr/>
        </p:nvCxnSpPr>
        <p:spPr>
          <a:xfrm>
            <a:off x="1570263" y="663120"/>
            <a:ext cx="1377043" cy="7260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4C3091E-3BCF-8ECB-ED8A-9A681A2618B5}"/>
              </a:ext>
            </a:extLst>
          </p:cNvPr>
          <p:cNvCxnSpPr>
            <a:cxnSpLocks/>
          </p:cNvCxnSpPr>
          <p:nvPr/>
        </p:nvCxnSpPr>
        <p:spPr>
          <a:xfrm>
            <a:off x="5017405" y="1996619"/>
            <a:ext cx="1467757" cy="16331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5A4AA5E-18BD-2C5B-07A1-E1AFB4B45263}"/>
              </a:ext>
            </a:extLst>
          </p:cNvPr>
          <p:cNvCxnSpPr>
            <a:cxnSpLocks/>
          </p:cNvCxnSpPr>
          <p:nvPr/>
        </p:nvCxnSpPr>
        <p:spPr>
          <a:xfrm>
            <a:off x="8872761" y="1887761"/>
            <a:ext cx="1113972" cy="16331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6F4BF31-8A0B-8E7E-864B-537466B533C1}"/>
              </a:ext>
            </a:extLst>
          </p:cNvPr>
          <p:cNvCxnSpPr>
            <a:cxnSpLocks/>
          </p:cNvCxnSpPr>
          <p:nvPr/>
        </p:nvCxnSpPr>
        <p:spPr>
          <a:xfrm flipV="1">
            <a:off x="3248476" y="3573236"/>
            <a:ext cx="968830" cy="1812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52CB2C2-6D87-34D5-E023-9380E0354550}"/>
              </a:ext>
            </a:extLst>
          </p:cNvPr>
          <p:cNvCxnSpPr>
            <a:cxnSpLocks/>
          </p:cNvCxnSpPr>
          <p:nvPr/>
        </p:nvCxnSpPr>
        <p:spPr>
          <a:xfrm>
            <a:off x="6831690" y="3520619"/>
            <a:ext cx="1113972" cy="7259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8782DCF-7D75-21C3-29AD-2D4E58F2C809}"/>
              </a:ext>
            </a:extLst>
          </p:cNvPr>
          <p:cNvCxnSpPr>
            <a:cxnSpLocks/>
          </p:cNvCxnSpPr>
          <p:nvPr/>
        </p:nvCxnSpPr>
        <p:spPr>
          <a:xfrm flipV="1">
            <a:off x="5017405" y="4870451"/>
            <a:ext cx="1567542" cy="19954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B08E2C8-9928-5068-DEB5-63022E8486DF}"/>
              </a:ext>
            </a:extLst>
          </p:cNvPr>
          <p:cNvCxnSpPr>
            <a:cxnSpLocks/>
          </p:cNvCxnSpPr>
          <p:nvPr/>
        </p:nvCxnSpPr>
        <p:spPr>
          <a:xfrm>
            <a:off x="8872763" y="4863190"/>
            <a:ext cx="1313543" cy="25403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4E77A8C-7474-D838-2A46-F6D0A4F5F809}"/>
              </a:ext>
            </a:extLst>
          </p:cNvPr>
          <p:cNvCxnSpPr>
            <a:cxnSpLocks/>
          </p:cNvCxnSpPr>
          <p:nvPr/>
        </p:nvCxnSpPr>
        <p:spPr>
          <a:xfrm>
            <a:off x="1755938" y="4863190"/>
            <a:ext cx="1000867" cy="7261"/>
          </a:xfrm>
          <a:prstGeom prst="straightConnector1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8470E9E-EB83-663D-4210-97B01DB42ECD}"/>
              </a:ext>
            </a:extLst>
          </p:cNvPr>
          <p:cNvCxnSpPr/>
          <p:nvPr/>
        </p:nvCxnSpPr>
        <p:spPr>
          <a:xfrm flipH="1" flipV="1">
            <a:off x="2523217" y="2840716"/>
            <a:ext cx="1815" cy="264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D38B92C-CBDF-8B18-A079-AE9298D7AEEB}"/>
              </a:ext>
            </a:extLst>
          </p:cNvPr>
          <p:cNvSpPr txBox="1"/>
          <p:nvPr/>
        </p:nvSpPr>
        <p:spPr>
          <a:xfrm>
            <a:off x="6243864" y="2965449"/>
            <a:ext cx="541564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0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001FD23-2932-5ECF-76E7-D2F05171C924}"/>
              </a:ext>
            </a:extLst>
          </p:cNvPr>
          <p:cNvCxnSpPr/>
          <p:nvPr/>
        </p:nvCxnSpPr>
        <p:spPr>
          <a:xfrm flipV="1">
            <a:off x="6729512" y="3074469"/>
            <a:ext cx="569686" cy="10887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AA84BF2-FF94-47CB-E544-FAD80AD04B78}"/>
              </a:ext>
            </a:extLst>
          </p:cNvPr>
          <p:cNvCxnSpPr/>
          <p:nvPr/>
        </p:nvCxnSpPr>
        <p:spPr>
          <a:xfrm flipH="1">
            <a:off x="7303859" y="3069318"/>
            <a:ext cx="1816" cy="161470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D1FD3D1-82B1-2FCC-76A9-BD4B2E57D2B4}"/>
              </a:ext>
            </a:extLst>
          </p:cNvPr>
          <p:cNvCxnSpPr>
            <a:cxnSpLocks/>
          </p:cNvCxnSpPr>
          <p:nvPr/>
        </p:nvCxnSpPr>
        <p:spPr>
          <a:xfrm flipH="1">
            <a:off x="7675787" y="3078389"/>
            <a:ext cx="1816" cy="161470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D8CE09B-0F63-B42F-15B1-4FEF1DDC0536}"/>
              </a:ext>
            </a:extLst>
          </p:cNvPr>
          <p:cNvCxnSpPr>
            <a:cxnSpLocks/>
          </p:cNvCxnSpPr>
          <p:nvPr/>
        </p:nvCxnSpPr>
        <p:spPr>
          <a:xfrm flipV="1">
            <a:off x="7672940" y="3065397"/>
            <a:ext cx="569686" cy="10887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EF34F3FB-0B03-CC58-42C4-7E3122CAB813}"/>
              </a:ext>
            </a:extLst>
          </p:cNvPr>
          <p:cNvSpPr txBox="1"/>
          <p:nvPr/>
        </p:nvSpPr>
        <p:spPr>
          <a:xfrm>
            <a:off x="8248649" y="2947305"/>
            <a:ext cx="541564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0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D44B9C1-C940-6089-75D6-C25B422729FB}"/>
              </a:ext>
            </a:extLst>
          </p:cNvPr>
          <p:cNvCxnSpPr>
            <a:cxnSpLocks/>
          </p:cNvCxnSpPr>
          <p:nvPr/>
        </p:nvCxnSpPr>
        <p:spPr>
          <a:xfrm flipV="1">
            <a:off x="8661726" y="3056325"/>
            <a:ext cx="687613" cy="10887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C60C85F-E3A6-3ABA-E510-D004661FDBDC}"/>
              </a:ext>
            </a:extLst>
          </p:cNvPr>
          <p:cNvCxnSpPr>
            <a:cxnSpLocks/>
          </p:cNvCxnSpPr>
          <p:nvPr/>
        </p:nvCxnSpPr>
        <p:spPr>
          <a:xfrm flipH="1" flipV="1">
            <a:off x="9349463" y="2863395"/>
            <a:ext cx="1816" cy="2013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E26DD67-B569-8EC0-3F11-9209DB8E31DB}"/>
              </a:ext>
            </a:extLst>
          </p:cNvPr>
          <p:cNvCxnSpPr>
            <a:cxnSpLocks/>
          </p:cNvCxnSpPr>
          <p:nvPr/>
        </p:nvCxnSpPr>
        <p:spPr>
          <a:xfrm flipH="1" flipV="1">
            <a:off x="6292391" y="2872466"/>
            <a:ext cx="1816" cy="2013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B4A96F9-AED2-EA87-8553-C9F1887B2A13}"/>
              </a:ext>
            </a:extLst>
          </p:cNvPr>
          <p:cNvSpPr txBox="1"/>
          <p:nvPr/>
        </p:nvSpPr>
        <p:spPr>
          <a:xfrm>
            <a:off x="4556577" y="3409948"/>
            <a:ext cx="541564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0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5A14E78-0E30-8907-A0E1-0BDC2ACF5029}"/>
              </a:ext>
            </a:extLst>
          </p:cNvPr>
          <p:cNvCxnSpPr/>
          <p:nvPr/>
        </p:nvCxnSpPr>
        <p:spPr>
          <a:xfrm>
            <a:off x="2525030" y="3114675"/>
            <a:ext cx="2166257" cy="25398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B2FE08A-B406-0720-568C-D854604F1EEA}"/>
              </a:ext>
            </a:extLst>
          </p:cNvPr>
          <p:cNvCxnSpPr>
            <a:cxnSpLocks/>
          </p:cNvCxnSpPr>
          <p:nvPr/>
        </p:nvCxnSpPr>
        <p:spPr>
          <a:xfrm flipV="1">
            <a:off x="4693101" y="3131002"/>
            <a:ext cx="7258" cy="301171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162100ED-A7FA-D8E7-AB47-67F33FA6D725}"/>
              </a:ext>
            </a:extLst>
          </p:cNvPr>
          <p:cNvCxnSpPr/>
          <p:nvPr/>
        </p:nvCxnSpPr>
        <p:spPr>
          <a:xfrm>
            <a:off x="3901622" y="4872262"/>
            <a:ext cx="1113969" cy="1632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1D85E195-2BF9-1BE2-1308-567A9D708265}"/>
              </a:ext>
            </a:extLst>
          </p:cNvPr>
          <p:cNvSpPr txBox="1"/>
          <p:nvPr/>
        </p:nvSpPr>
        <p:spPr>
          <a:xfrm>
            <a:off x="3458933" y="4761590"/>
            <a:ext cx="541564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0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6949D2A-0693-D4F5-8C84-A6D88F4C56CF}"/>
              </a:ext>
            </a:extLst>
          </p:cNvPr>
          <p:cNvCxnSpPr>
            <a:cxnSpLocks/>
          </p:cNvCxnSpPr>
          <p:nvPr/>
        </p:nvCxnSpPr>
        <p:spPr>
          <a:xfrm flipV="1">
            <a:off x="2754084" y="4865914"/>
            <a:ext cx="714830" cy="10883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22F9FAB-FB42-1D8D-F707-7402737F84BD}"/>
              </a:ext>
            </a:extLst>
          </p:cNvPr>
          <p:cNvCxnSpPr>
            <a:cxnSpLocks/>
          </p:cNvCxnSpPr>
          <p:nvPr/>
        </p:nvCxnSpPr>
        <p:spPr>
          <a:xfrm flipV="1">
            <a:off x="6591297" y="4865913"/>
            <a:ext cx="714830" cy="10883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1F3436B-8A2A-933A-7EC9-B548E02D3BFD}"/>
              </a:ext>
            </a:extLst>
          </p:cNvPr>
          <p:cNvSpPr txBox="1"/>
          <p:nvPr/>
        </p:nvSpPr>
        <p:spPr>
          <a:xfrm>
            <a:off x="7259861" y="4761589"/>
            <a:ext cx="541564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0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30703B5-866A-E5DE-1CCF-AF339CB4EE19}"/>
              </a:ext>
            </a:extLst>
          </p:cNvPr>
          <p:cNvCxnSpPr>
            <a:cxnSpLocks/>
          </p:cNvCxnSpPr>
          <p:nvPr/>
        </p:nvCxnSpPr>
        <p:spPr>
          <a:xfrm>
            <a:off x="7675336" y="4872261"/>
            <a:ext cx="1195611" cy="725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96352BF-5B22-2035-DB04-A781475CC4F6}"/>
              </a:ext>
            </a:extLst>
          </p:cNvPr>
          <p:cNvCxnSpPr>
            <a:cxnSpLocks/>
          </p:cNvCxnSpPr>
          <p:nvPr/>
        </p:nvCxnSpPr>
        <p:spPr>
          <a:xfrm flipH="1" flipV="1">
            <a:off x="7954732" y="3518803"/>
            <a:ext cx="1398817" cy="1088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E46B2E2-B6FE-6C68-0E7E-FA4FCA8C5FE2}"/>
              </a:ext>
            </a:extLst>
          </p:cNvPr>
          <p:cNvSpPr txBox="1"/>
          <p:nvPr/>
        </p:nvSpPr>
        <p:spPr>
          <a:xfrm>
            <a:off x="8983434" y="3872590"/>
            <a:ext cx="541564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00">
                <a:solidFill>
                  <a:srgbClr val="000000"/>
                </a:solidFill>
                <a:latin typeface="Times New Roman"/>
                <a:cs typeface="Times New Roman"/>
              </a:rPr>
              <a:t>DATA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1CDA59E-4F80-2E73-A0B0-915ED884CBF3}"/>
              </a:ext>
            </a:extLst>
          </p:cNvPr>
          <p:cNvCxnSpPr>
            <a:cxnSpLocks/>
          </p:cNvCxnSpPr>
          <p:nvPr/>
        </p:nvCxnSpPr>
        <p:spPr>
          <a:xfrm flipH="1" flipV="1">
            <a:off x="9338126" y="4040411"/>
            <a:ext cx="10885" cy="473529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633F886-08EC-3701-3B74-887C2C09B404}"/>
              </a:ext>
            </a:extLst>
          </p:cNvPr>
          <p:cNvCxnSpPr>
            <a:cxnSpLocks/>
          </p:cNvCxnSpPr>
          <p:nvPr/>
        </p:nvCxnSpPr>
        <p:spPr>
          <a:xfrm flipV="1">
            <a:off x="9339938" y="3532413"/>
            <a:ext cx="7259" cy="355594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D62A73C9-4BFF-CA5C-C442-115459CDD921}"/>
              </a:ext>
            </a:extLst>
          </p:cNvPr>
          <p:cNvSpPr txBox="1"/>
          <p:nvPr/>
        </p:nvSpPr>
        <p:spPr>
          <a:xfrm>
            <a:off x="4556577" y="335212"/>
            <a:ext cx="213797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1524210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F08E82-0615-52BF-4F1D-04BE01FFF6E4}"/>
              </a:ext>
            </a:extLst>
          </p:cNvPr>
          <p:cNvSpPr/>
          <p:nvPr/>
        </p:nvSpPr>
        <p:spPr>
          <a:xfrm>
            <a:off x="736847" y="1313895"/>
            <a:ext cx="3036163" cy="763480"/>
          </a:xfrm>
          <a:prstGeom prst="round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FRONTEND (UI)</a:t>
            </a:r>
          </a:p>
          <a:p>
            <a:pPr algn="ctr"/>
            <a:r>
              <a:rPr lang="en-US" dirty="0"/>
              <a:t>http://localhost:4200/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C0CA09-B339-B36B-37B3-D39B8C1C110D}"/>
              </a:ext>
            </a:extLst>
          </p:cNvPr>
          <p:cNvSpPr/>
          <p:nvPr/>
        </p:nvSpPr>
        <p:spPr>
          <a:xfrm>
            <a:off x="807867" y="2752079"/>
            <a:ext cx="2894121" cy="88776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BACKEND</a:t>
            </a:r>
          </a:p>
          <a:p>
            <a:pPr algn="ctr"/>
            <a:r>
              <a:rPr lang="en-US" dirty="0"/>
              <a:t>http://localhost:8084/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8244EE6-FA4E-1869-CA05-D6595DA914B7}"/>
              </a:ext>
            </a:extLst>
          </p:cNvPr>
          <p:cNvSpPr/>
          <p:nvPr/>
        </p:nvSpPr>
        <p:spPr>
          <a:xfrm>
            <a:off x="736847" y="4332304"/>
            <a:ext cx="3036163" cy="76348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  <a:p>
            <a:pPr algn="ctr"/>
            <a:r>
              <a:rPr lang="en-US" dirty="0"/>
              <a:t>http://localhost:3306/ 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FE1F03D-8FF8-E969-89B6-EB9A99F37594}"/>
              </a:ext>
            </a:extLst>
          </p:cNvPr>
          <p:cNvCxnSpPr>
            <a:cxnSpLocks/>
          </p:cNvCxnSpPr>
          <p:nvPr/>
        </p:nvCxnSpPr>
        <p:spPr>
          <a:xfrm>
            <a:off x="2183907" y="2077375"/>
            <a:ext cx="0" cy="6747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DFD9C7-0D83-C6B2-6812-C15ED5378CAE}"/>
              </a:ext>
            </a:extLst>
          </p:cNvPr>
          <p:cNvCxnSpPr>
            <a:cxnSpLocks/>
          </p:cNvCxnSpPr>
          <p:nvPr/>
        </p:nvCxnSpPr>
        <p:spPr>
          <a:xfrm>
            <a:off x="2176509" y="3639846"/>
            <a:ext cx="0" cy="6924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FF7DE73-127E-4A37-7531-FD36D42F852B}"/>
              </a:ext>
            </a:extLst>
          </p:cNvPr>
          <p:cNvSpPr txBox="1"/>
          <p:nvPr/>
        </p:nvSpPr>
        <p:spPr>
          <a:xfrm>
            <a:off x="3923929" y="1544715"/>
            <a:ext cx="4566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(Angular       HTML, CSS,  .</a:t>
            </a:r>
            <a:r>
              <a:rPr lang="en-US" dirty="0" err="1"/>
              <a:t>ts</a:t>
            </a:r>
            <a:r>
              <a:rPr lang="en-US" dirty="0"/>
              <a:t>,  </a:t>
            </a:r>
            <a:r>
              <a:rPr lang="en-US" dirty="0" err="1"/>
              <a:t>spec.ts</a:t>
            </a:r>
            <a:r>
              <a:rPr lang="en-US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FA855C-8EAB-3DE2-FEE7-578EA0765703}"/>
              </a:ext>
            </a:extLst>
          </p:cNvPr>
          <p:cNvSpPr txBox="1"/>
          <p:nvPr/>
        </p:nvSpPr>
        <p:spPr>
          <a:xfrm>
            <a:off x="3923930" y="2812885"/>
            <a:ext cx="4566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(SpringBoot        </a:t>
            </a:r>
            <a:r>
              <a:rPr lang="en-US" dirty="0" err="1"/>
              <a:t>pojo</a:t>
            </a:r>
            <a:r>
              <a:rPr lang="en-US" dirty="0"/>
              <a:t>, controllers, Service, Repo)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B9763F-FE3B-046B-3B3B-03165B350111}"/>
              </a:ext>
            </a:extLst>
          </p:cNvPr>
          <p:cNvSpPr txBox="1"/>
          <p:nvPr/>
        </p:nvSpPr>
        <p:spPr>
          <a:xfrm>
            <a:off x="3923929" y="4332304"/>
            <a:ext cx="4234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(Application Properties</a:t>
            </a:r>
          </a:p>
          <a:p>
            <a:endParaRPr lang="en-US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7729A99-73BE-EAED-692E-E2775D209DE1}"/>
              </a:ext>
            </a:extLst>
          </p:cNvPr>
          <p:cNvSpPr/>
          <p:nvPr/>
        </p:nvSpPr>
        <p:spPr>
          <a:xfrm>
            <a:off x="6158144" y="4438835"/>
            <a:ext cx="331433" cy="213064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3B9FCD66-7692-8B06-57B7-516C0899EE97}"/>
              </a:ext>
            </a:extLst>
          </p:cNvPr>
          <p:cNvSpPr/>
          <p:nvPr/>
        </p:nvSpPr>
        <p:spPr>
          <a:xfrm>
            <a:off x="5147261" y="2876392"/>
            <a:ext cx="331433" cy="213064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CE9A570C-9AA8-AF16-3F0F-74529F280B38}"/>
              </a:ext>
            </a:extLst>
          </p:cNvPr>
          <p:cNvSpPr/>
          <p:nvPr/>
        </p:nvSpPr>
        <p:spPr>
          <a:xfrm>
            <a:off x="4833582" y="1635724"/>
            <a:ext cx="331433" cy="213064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CF5A18-32B9-D2CD-948E-2ED1386BA031}"/>
              </a:ext>
            </a:extLst>
          </p:cNvPr>
          <p:cNvSpPr txBox="1"/>
          <p:nvPr/>
        </p:nvSpPr>
        <p:spPr>
          <a:xfrm>
            <a:off x="6489577" y="4334068"/>
            <a:ext cx="297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Hibernate Connection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2F3429D4-2FA0-D2FF-4116-FF9913A13FC8}"/>
              </a:ext>
            </a:extLst>
          </p:cNvPr>
          <p:cNvSpPr/>
          <p:nvPr/>
        </p:nvSpPr>
        <p:spPr>
          <a:xfrm>
            <a:off x="8730080" y="4438835"/>
            <a:ext cx="331433" cy="213064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81C1AB-3F77-6606-76DE-E799F1393123}"/>
              </a:ext>
            </a:extLst>
          </p:cNvPr>
          <p:cNvSpPr txBox="1"/>
          <p:nvPr/>
        </p:nvSpPr>
        <p:spPr>
          <a:xfrm>
            <a:off x="9055225" y="4344712"/>
            <a:ext cx="1009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MySql</a:t>
            </a:r>
            <a:r>
              <a:rPr lang="en-US" dirty="0"/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5765DC-AA1F-CFF3-1CDC-C9AF0EAB51BE}"/>
              </a:ext>
            </a:extLst>
          </p:cNvPr>
          <p:cNvSpPr txBox="1"/>
          <p:nvPr/>
        </p:nvSpPr>
        <p:spPr>
          <a:xfrm>
            <a:off x="4164792" y="367301"/>
            <a:ext cx="386241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Module Functionality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5119890-8FA6-4248-4BF7-57BE5913BA57}"/>
              </a:ext>
            </a:extLst>
          </p:cNvPr>
          <p:cNvCxnSpPr>
            <a:cxnSpLocks/>
          </p:cNvCxnSpPr>
          <p:nvPr/>
        </p:nvCxnSpPr>
        <p:spPr>
          <a:xfrm>
            <a:off x="2176508" y="5095784"/>
            <a:ext cx="0" cy="6924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99D173D-B165-265E-F25E-29C381E5EDDA}"/>
              </a:ext>
            </a:extLst>
          </p:cNvPr>
          <p:cNvSpPr/>
          <p:nvPr/>
        </p:nvSpPr>
        <p:spPr>
          <a:xfrm>
            <a:off x="658427" y="5788242"/>
            <a:ext cx="3036163" cy="76348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Response to UI  </a:t>
            </a:r>
          </a:p>
        </p:txBody>
      </p:sp>
    </p:spTree>
    <p:extLst>
      <p:ext uri="{BB962C8B-B14F-4D97-AF65-F5344CB8AC3E}">
        <p14:creationId xmlns:p14="http://schemas.microsoft.com/office/powerpoint/2010/main" val="2140604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5A021D-67A9-85E0-0136-A1E815D3AD74}"/>
              </a:ext>
            </a:extLst>
          </p:cNvPr>
          <p:cNvSpPr txBox="1"/>
          <p:nvPr/>
        </p:nvSpPr>
        <p:spPr>
          <a:xfrm>
            <a:off x="5859262" y="1091953"/>
            <a:ext cx="4492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Admin Module </a:t>
            </a:r>
          </a:p>
        </p:txBody>
      </p:sp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E91D6F22-02C0-F539-9926-31E5004F6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58" y="157659"/>
            <a:ext cx="4065972" cy="3271341"/>
          </a:xfrm>
          <a:prstGeom prst="rect">
            <a:avLst/>
          </a:prstGeom>
        </p:spPr>
      </p:pic>
      <p:pic>
        <p:nvPicPr>
          <p:cNvPr id="15" name="Picture 14" descr="A screenshot of a computer&#10;&#10;Description automatically generated">
            <a:extLst>
              <a:ext uri="{FF2B5EF4-FFF2-40B4-BE49-F238E27FC236}">
                <a16:creationId xmlns:a16="http://schemas.microsoft.com/office/drawing/2014/main" id="{75E7D3D7-CDFA-6396-AB3B-D985597CC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59" y="3746376"/>
            <a:ext cx="4065972" cy="301832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0D36E38-EEA6-449D-4C35-07D08769573D}"/>
              </a:ext>
            </a:extLst>
          </p:cNvPr>
          <p:cNvSpPr txBox="1"/>
          <p:nvPr/>
        </p:nvSpPr>
        <p:spPr>
          <a:xfrm>
            <a:off x="6734638" y="2301536"/>
            <a:ext cx="4400550" cy="3791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Create Admin Account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Login to portal​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​Add or remove cuisines to or from the application to build a rich product line​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Edit food item details like name, price, cuisine, description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 or disable food items​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View Queries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View Reviews</a:t>
            </a:r>
          </a:p>
        </p:txBody>
      </p:sp>
    </p:spTree>
    <p:extLst>
      <p:ext uri="{BB962C8B-B14F-4D97-AF65-F5344CB8AC3E}">
        <p14:creationId xmlns:p14="http://schemas.microsoft.com/office/powerpoint/2010/main" val="4119537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5E46986-8269-C91E-4443-FE6FF48B29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5" r="1" b="6525"/>
          <a:stretch/>
        </p:blipFill>
        <p:spPr>
          <a:xfrm>
            <a:off x="626270" y="653143"/>
            <a:ext cx="10786264" cy="471674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00948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5A021D-67A9-85E0-0136-A1E815D3AD74}"/>
              </a:ext>
            </a:extLst>
          </p:cNvPr>
          <p:cNvSpPr txBox="1"/>
          <p:nvPr/>
        </p:nvSpPr>
        <p:spPr>
          <a:xfrm>
            <a:off x="5539666" y="1784412"/>
            <a:ext cx="4492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User Module 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5AD08271-6FD2-442E-B659-25BD2B5E4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5433"/>
            <a:ext cx="6096000" cy="44784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0B1D6D-3D9E-A3B5-67F8-F3E0DF136E52}"/>
              </a:ext>
            </a:extLst>
          </p:cNvPr>
          <p:cNvSpPr txBox="1"/>
          <p:nvPr/>
        </p:nvSpPr>
        <p:spPr>
          <a:xfrm>
            <a:off x="6418556" y="2904899"/>
            <a:ext cx="4030462" cy="3376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Create Login Account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Login to portal​​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Choose the food items and add them to your cart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User can choose the payment option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Password Management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Give Queries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Give Reviews</a:t>
            </a:r>
          </a:p>
        </p:txBody>
      </p:sp>
    </p:spTree>
    <p:extLst>
      <p:ext uri="{BB962C8B-B14F-4D97-AF65-F5344CB8AC3E}">
        <p14:creationId xmlns:p14="http://schemas.microsoft.com/office/powerpoint/2010/main" val="3239226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5A021D-67A9-85E0-0136-A1E815D3AD74}"/>
              </a:ext>
            </a:extLst>
          </p:cNvPr>
          <p:cNvSpPr txBox="1"/>
          <p:nvPr/>
        </p:nvSpPr>
        <p:spPr>
          <a:xfrm>
            <a:off x="5930284" y="577049"/>
            <a:ext cx="4492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Contact Form Module 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E89460C-7916-61AE-4C5C-862C56D927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64" y="1269507"/>
            <a:ext cx="5646198" cy="49467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6451DB-5505-27A0-0BFD-618ADB2AC24A}"/>
              </a:ext>
            </a:extLst>
          </p:cNvPr>
          <p:cNvSpPr txBox="1"/>
          <p:nvPr/>
        </p:nvSpPr>
        <p:spPr>
          <a:xfrm>
            <a:off x="6391922" y="2059619"/>
            <a:ext cx="4412202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Connects with customer support channels for further assistance.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Use to submit the query from the customers 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Follow up on customer inquiries to ensure their issues are resolved satisfactorily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 easily accessible phone numbers, email addresses, and mailing addresses.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/>
          </a:p>
          <a:p>
            <a:pPr rtl="0">
              <a:lnSpc>
                <a:spcPct val="150000"/>
              </a:lnSpc>
            </a:pPr>
            <a:endParaRPr lang="en-US" dirty="0"/>
          </a:p>
          <a:p>
            <a:pPr rtl="0">
              <a:lnSpc>
                <a:spcPct val="150000"/>
              </a:lnSpc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26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5A021D-67A9-85E0-0136-A1E815D3AD74}"/>
              </a:ext>
            </a:extLst>
          </p:cNvPr>
          <p:cNvSpPr txBox="1"/>
          <p:nvPr/>
        </p:nvSpPr>
        <p:spPr>
          <a:xfrm>
            <a:off x="5930284" y="577049"/>
            <a:ext cx="4492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Food Item Module </a:t>
            </a:r>
          </a:p>
        </p:txBody>
      </p:sp>
      <p:pic>
        <p:nvPicPr>
          <p:cNvPr id="4" name="Picture 3" descr="A computer screen with a white and green box&#10;&#10;Description automatically generated">
            <a:extLst>
              <a:ext uri="{FF2B5EF4-FFF2-40B4-BE49-F238E27FC236}">
                <a16:creationId xmlns:a16="http://schemas.microsoft.com/office/drawing/2014/main" id="{D50D141E-93BD-FECE-D9C4-8DCB7D4DD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50" y="1604890"/>
            <a:ext cx="5010149" cy="42625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F8B0A9-E1C0-4DDC-4E06-6407E50FA3DE}"/>
              </a:ext>
            </a:extLst>
          </p:cNvPr>
          <p:cNvSpPr txBox="1"/>
          <p:nvPr/>
        </p:nvSpPr>
        <p:spPr>
          <a:xfrm>
            <a:off x="6383044" y="1296139"/>
            <a:ext cx="441220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Present food items in an attractive and visually appealing manner to entice customers.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Keep the food item database up-to-date with new offerings and changes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Allow users to quickly find food items based on name, category, price, or availability. 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Showcase food items with visually appealing images that accurately represent their appearance.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Seamlessly integrate with the cart, order, and payment modules for a smooth user experience.</a:t>
            </a:r>
          </a:p>
          <a:p>
            <a:pPr rtl="0">
              <a:lnSpc>
                <a:spcPct val="150000"/>
              </a:lnSpc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979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5A021D-67A9-85E0-0136-A1E815D3AD74}"/>
              </a:ext>
            </a:extLst>
          </p:cNvPr>
          <p:cNvSpPr txBox="1"/>
          <p:nvPr/>
        </p:nvSpPr>
        <p:spPr>
          <a:xfrm>
            <a:off x="5930284" y="577049"/>
            <a:ext cx="4492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Category Module 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86A76540-2AF1-9CB0-ED79-53335F298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93" y="1241764"/>
            <a:ext cx="5273567" cy="43744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F3DEAF5-1268-D1BD-C5A2-CE9759CEFCA0}"/>
              </a:ext>
            </a:extLst>
          </p:cNvPr>
          <p:cNvSpPr txBox="1"/>
          <p:nvPr/>
        </p:nvSpPr>
        <p:spPr>
          <a:xfrm>
            <a:off x="6391922" y="2059619"/>
            <a:ext cx="44122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/>
              <a:t>Integrate the category module with the food item and menu modules for seamless functionality.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/>
              <a:t>Allow users to search for food items based on category or cuisine.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/>
              <a:t>Allow users to filter food items based on both categories and cuisines.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/>
              <a:t>Allow administrators to add, edit, and delete cuisines.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/>
              <a:t>Organize categories and cuisines in a logical and easy-to-navigate manner.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617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5A021D-67A9-85E0-0136-A1E815D3AD74}"/>
              </a:ext>
            </a:extLst>
          </p:cNvPr>
          <p:cNvSpPr txBox="1"/>
          <p:nvPr/>
        </p:nvSpPr>
        <p:spPr>
          <a:xfrm>
            <a:off x="5930284" y="577049"/>
            <a:ext cx="4492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Cart Module 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7334A25-ECBB-C9B8-CD7C-510949F1C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43" y="1741503"/>
            <a:ext cx="5663953" cy="4066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08D7F1-5B5B-5AD6-83AB-83FE75E18C8D}"/>
              </a:ext>
            </a:extLst>
          </p:cNvPr>
          <p:cNvSpPr txBox="1"/>
          <p:nvPr/>
        </p:nvSpPr>
        <p:spPr>
          <a:xfrm>
            <a:off x="6391922" y="2059619"/>
            <a:ext cx="441220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/>
              <a:t>Allows users to add or remove food items from their shopping cart.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/>
              <a:t>Automatically calculates the total price based on the selected items and quantities.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/>
              <a:t>Allows users to save their cart for future purchases.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/>
              <a:t>Facilitates the payment process by connecting to a payment gateway.</a:t>
            </a:r>
          </a:p>
          <a:p>
            <a:pPr marL="285750" indent="-285750" rtl="0">
              <a:buFont typeface="Wingdings" panose="05000000000000000000" pitchFamily="2" charset="2"/>
              <a:buChar char="Ø"/>
            </a:pPr>
            <a:r>
              <a:rPr lang="en-US" dirty="0"/>
              <a:t>Prioritize a smooth and intuitive user experience when interacting with the cart.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9352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5A021D-67A9-85E0-0136-A1E815D3AD74}"/>
              </a:ext>
            </a:extLst>
          </p:cNvPr>
          <p:cNvSpPr txBox="1"/>
          <p:nvPr/>
        </p:nvSpPr>
        <p:spPr>
          <a:xfrm>
            <a:off x="5930284" y="577049"/>
            <a:ext cx="4492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Order Module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8F6DB5B-6DF5-80C6-3B5F-93BDB0194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708" y="3578055"/>
            <a:ext cx="4225771" cy="315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28ABC5C-E868-1C5D-364A-509C75606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08" y="277947"/>
            <a:ext cx="4225771" cy="31510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9D8F37-8BE0-03C0-7229-8366F0AE1631}"/>
              </a:ext>
            </a:extLst>
          </p:cNvPr>
          <p:cNvSpPr txBox="1"/>
          <p:nvPr/>
        </p:nvSpPr>
        <p:spPr>
          <a:xfrm>
            <a:off x="6391922" y="2059619"/>
            <a:ext cx="441220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Allows users to place orders based on their selected items and quantities.</a:t>
            </a:r>
          </a:p>
          <a:p>
            <a:pPr marL="285750" indent="-285750" algn="just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Generates unique order IDs and stores order details in the database.</a:t>
            </a:r>
          </a:p>
          <a:p>
            <a:pPr marL="285750" indent="-285750" algn="just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Integrates with the payment gateway to process payments.</a:t>
            </a:r>
          </a:p>
          <a:p>
            <a:pPr marL="285750" indent="-285750" algn="just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Displays a clear summary of the order, including items, quantities, prices, and total.</a:t>
            </a:r>
          </a:p>
          <a:p>
            <a:pPr marL="285750" indent="-285750" algn="just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Provides a secure interface for entering payment details.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122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5A021D-67A9-85E0-0136-A1E815D3AD74}"/>
              </a:ext>
            </a:extLst>
          </p:cNvPr>
          <p:cNvSpPr txBox="1"/>
          <p:nvPr/>
        </p:nvSpPr>
        <p:spPr>
          <a:xfrm>
            <a:off x="6096000" y="1873189"/>
            <a:ext cx="4492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Review Module 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0BEDDDF-D88A-558E-0345-09ED98011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6958"/>
            <a:ext cx="6169981" cy="4880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7C7972-6760-6575-D93B-29688AE9C871}"/>
              </a:ext>
            </a:extLst>
          </p:cNvPr>
          <p:cNvSpPr txBox="1"/>
          <p:nvPr/>
        </p:nvSpPr>
        <p:spPr>
          <a:xfrm>
            <a:off x="6489577" y="3140401"/>
            <a:ext cx="5344357" cy="2960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Allows users to submit reviews and ratings for food items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 clear and easy-to-use form for submitting reviews, including fields for rating, text review, and optional personal information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Stores reviews in a database, including user information, rating, and text content</a:t>
            </a:r>
          </a:p>
        </p:txBody>
      </p:sp>
    </p:spTree>
    <p:extLst>
      <p:ext uri="{BB962C8B-B14F-4D97-AF65-F5344CB8AC3E}">
        <p14:creationId xmlns:p14="http://schemas.microsoft.com/office/powerpoint/2010/main" val="29274860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 descr="A bowl of soup with noodles and eggs">
            <a:extLst>
              <a:ext uri="{FF2B5EF4-FFF2-40B4-BE49-F238E27FC236}">
                <a16:creationId xmlns:a16="http://schemas.microsoft.com/office/drawing/2014/main" id="{CFB96AF4-538A-D98F-E0E1-6A83061B967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700" b="13700"/>
          <a:stretch/>
        </p:blipFill>
        <p:spPr>
          <a:xfrm>
            <a:off x="665163" y="1047750"/>
            <a:ext cx="4840287" cy="48402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34FBED-D61D-0BB1-755F-3DC2747B0795}"/>
              </a:ext>
            </a:extLst>
          </p:cNvPr>
          <p:cNvSpPr txBox="1"/>
          <p:nvPr/>
        </p:nvSpPr>
        <p:spPr>
          <a:xfrm>
            <a:off x="6258758" y="1928331"/>
            <a:ext cx="5690585" cy="2980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Future Enhancements </a:t>
            </a:r>
          </a:p>
          <a:p>
            <a:pPr algn="ctr"/>
            <a:endParaRPr lang="en-US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AI Chatbot Support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Real-time Order Tracking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Subscription Services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Advanced Analytics Dashboard for Admins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Mobile Application Development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Advanced Personalization</a:t>
            </a:r>
          </a:p>
        </p:txBody>
      </p:sp>
    </p:spTree>
    <p:extLst>
      <p:ext uri="{BB962C8B-B14F-4D97-AF65-F5344CB8AC3E}">
        <p14:creationId xmlns:p14="http://schemas.microsoft.com/office/powerpoint/2010/main" val="3019350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EFA523-E8F0-A0FA-7329-00E986FF70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2347" y="838941"/>
            <a:ext cx="5279231" cy="2998353"/>
          </a:xfrm>
        </p:spPr>
        <p:txBody>
          <a:bodyPr/>
          <a:lstStyle/>
          <a:p>
            <a:r>
              <a:rPr lang="en-US" b="1" dirty="0"/>
              <a:t>Pros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Convenience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Time – Saving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Accessibility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Special Discounts and Offers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Data Management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7988FF2-C2FB-3C4D-B1FC-8361D9D7DEC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12348" y="3621612"/>
            <a:ext cx="5279231" cy="2397447"/>
          </a:xfrm>
        </p:spPr>
        <p:txBody>
          <a:bodyPr/>
          <a:lstStyle/>
          <a:p>
            <a:r>
              <a:rPr lang="en-US" b="1" dirty="0"/>
              <a:t>Cons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Development Time and Cost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Dependency on Technology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Maintenance and Updates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Quality Concerns 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Internet Dependency</a:t>
            </a:r>
          </a:p>
        </p:txBody>
      </p:sp>
      <p:pic>
        <p:nvPicPr>
          <p:cNvPr id="17" name="Content Placeholder 16" descr="A plate of food on a table">
            <a:extLst>
              <a:ext uri="{FF2B5EF4-FFF2-40B4-BE49-F238E27FC236}">
                <a16:creationId xmlns:a16="http://schemas.microsoft.com/office/drawing/2014/main" id="{12F3E40C-0092-7670-006F-5A57EF096A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3267" y="605504"/>
            <a:ext cx="4091086" cy="564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1441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Content Placeholder 14" descr="A bowl of soup with noodles and eggs">
            <a:extLst>
              <a:ext uri="{FF2B5EF4-FFF2-40B4-BE49-F238E27FC236}">
                <a16:creationId xmlns:a16="http://schemas.microsoft.com/office/drawing/2014/main" id="{CFB96AF4-538A-D98F-E0E1-6A83061B967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700" b="13700"/>
          <a:stretch/>
        </p:blipFill>
        <p:spPr>
          <a:xfrm>
            <a:off x="665163" y="1047750"/>
            <a:ext cx="4840287" cy="48402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34FBED-D61D-0BB1-755F-3DC2747B0795}"/>
              </a:ext>
            </a:extLst>
          </p:cNvPr>
          <p:cNvSpPr txBox="1"/>
          <p:nvPr/>
        </p:nvSpPr>
        <p:spPr>
          <a:xfrm>
            <a:off x="6258758" y="1928331"/>
            <a:ext cx="5690585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/>
              <a:t>Conclusion</a:t>
            </a:r>
          </a:p>
          <a:p>
            <a:pPr algn="ctr"/>
            <a:endParaRPr lang="en-US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/>
              <a:t>Responsive and Fast: </a:t>
            </a:r>
            <a:r>
              <a:rPr lang="en-US" sz="1400"/>
              <a:t>Built with Angular and Spring Boot, the FoodBox app </a:t>
            </a:r>
            <a:r>
              <a:rPr lang="en-US" sz="1400" dirty="0"/>
              <a:t>ensures a quick and seamless experience for both users and staff.</a:t>
            </a:r>
          </a:p>
          <a:p>
            <a:endParaRPr lang="en-US" sz="14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/>
              <a:t>Comprehensive Management: </a:t>
            </a:r>
            <a:r>
              <a:rPr lang="en-US" sz="1400"/>
              <a:t>Our admin tool efficiently handles everything from orders and reviews to food and cuisines, ensuring smooth operations.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/>
              <a:t>Advanced Technology Stack: </a:t>
            </a:r>
            <a:r>
              <a:rPr lang="en-US" sz="1400"/>
              <a:t>We leverage technologies like Spring Boot, Hibernate, Angular, HTML, CSS, Bootstrap, and MySQL to create a robust, attractive, and secure application.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/>
              <a:t>User-Centric Design: </a:t>
            </a:r>
            <a:r>
              <a:rPr lang="en-US" sz="1400"/>
              <a:t>Our intuitive interface makes it easy for you to navigate and find your favorite meals in no time.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4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1" dirty="0"/>
              <a:t>Reliable Performance: </a:t>
            </a:r>
            <a:r>
              <a:rPr lang="en-US" sz="1400" dirty="0"/>
              <a:t>With a focus on stability and security, </a:t>
            </a:r>
            <a:r>
              <a:rPr lang="en-US" sz="1400"/>
              <a:t>FoodBox guarantees a trustworthy and enjoyable experience every time </a:t>
            </a:r>
            <a:r>
              <a:rPr lang="en-US" sz="1400" dirty="0"/>
              <a:t>you use our app</a:t>
            </a:r>
          </a:p>
        </p:txBody>
      </p:sp>
    </p:spTree>
    <p:extLst>
      <p:ext uri="{BB962C8B-B14F-4D97-AF65-F5344CB8AC3E}">
        <p14:creationId xmlns:p14="http://schemas.microsoft.com/office/powerpoint/2010/main" val="39546781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16B9-7CE0-E821-2349-D00B35D73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2469" y="5086904"/>
            <a:ext cx="5511900" cy="1518081"/>
          </a:xfrm>
        </p:spPr>
        <p:txBody>
          <a:bodyPr/>
          <a:lstStyle/>
          <a:p>
            <a:pPr algn="ctr"/>
            <a:r>
              <a:rPr lang="en-US" sz="2400" b="1" dirty="0"/>
              <a:t>Thank  You</a:t>
            </a:r>
            <a:br>
              <a:rPr lang="en-US" sz="2400" dirty="0"/>
            </a:br>
            <a:br>
              <a:rPr lang="en-US" sz="2400" dirty="0"/>
            </a:br>
            <a:endParaRPr lang="en-US" sz="1200" dirty="0"/>
          </a:p>
        </p:txBody>
      </p:sp>
      <p:pic>
        <p:nvPicPr>
          <p:cNvPr id="49" name="Picture Placeholder 48" descr="A group of tacos with sauce and limes">
            <a:extLst>
              <a:ext uri="{FF2B5EF4-FFF2-40B4-BE49-F238E27FC236}">
                <a16:creationId xmlns:a16="http://schemas.microsoft.com/office/drawing/2014/main" id="{01D776C5-7456-524D-BDA8-D3613EC750B2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" b="24"/>
          <a:stretch/>
        </p:blipFill>
        <p:spPr>
          <a:xfrm>
            <a:off x="0" y="0"/>
            <a:ext cx="12192000" cy="477043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7AF9E1-9D1B-16BB-0DCB-E7AB09560CDB}"/>
              </a:ext>
            </a:extLst>
          </p:cNvPr>
          <p:cNvSpPr txBox="1"/>
          <p:nvPr/>
        </p:nvSpPr>
        <p:spPr>
          <a:xfrm>
            <a:off x="8353888" y="5601810"/>
            <a:ext cx="3488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Bon appétit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58840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24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737C54"/>
      </a:accent1>
      <a:accent2>
        <a:srgbClr val="BDB5A2"/>
      </a:accent2>
      <a:accent3>
        <a:srgbClr val="4D4247"/>
      </a:accent3>
      <a:accent4>
        <a:srgbClr val="DEC8C9"/>
      </a:accent4>
      <a:accent5>
        <a:srgbClr val="6D7383"/>
      </a:accent5>
      <a:accent6>
        <a:srgbClr val="958381"/>
      </a:accent6>
      <a:hlink>
        <a:srgbClr val="467886"/>
      </a:hlink>
      <a:folHlink>
        <a:srgbClr val="96607D"/>
      </a:folHlink>
    </a:clrScheme>
    <a:fontScheme name="Custom 166">
      <a:majorFont>
        <a:latin typeface="Chamberi Super Display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oodScrapbook_Win32_SL_V5" id="{0AA88523-B83D-4B3B-A0FD-B36C0C47AAAA}" vid="{64FE718D-A302-4E96-BFCA-81CBB8AD7C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1620671AA6F144983829BB9B74D827" ma:contentTypeVersion="6" ma:contentTypeDescription="Create a new document." ma:contentTypeScope="" ma:versionID="c8d5d24d3faf5a5d8e11f0ff6159e729">
  <xsd:schema xmlns:xsd="http://www.w3.org/2001/XMLSchema" xmlns:xs="http://www.w3.org/2001/XMLSchema" xmlns:p="http://schemas.microsoft.com/office/2006/metadata/properties" xmlns:ns3="b51c02e9-02d7-4e82-bc71-1126f25f4450" targetNamespace="http://schemas.microsoft.com/office/2006/metadata/properties" ma:root="true" ma:fieldsID="9ab149e4a0e3ece361f7ffc337fc7796" ns3:_="">
    <xsd:import namespace="b51c02e9-02d7-4e82-bc71-1126f25f445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1c02e9-02d7-4e82-bc71-1126f25f445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51c02e9-02d7-4e82-bc71-1126f25f4450" xsi:nil="true"/>
  </documentManagement>
</p:properties>
</file>

<file path=customXml/itemProps1.xml><?xml version="1.0" encoding="utf-8"?>
<ds:datastoreItem xmlns:ds="http://schemas.openxmlformats.org/officeDocument/2006/customXml" ds:itemID="{9EC2EF8C-8493-47A0-A966-5DD9BF887EFF}">
  <ds:schemaRefs>
    <ds:schemaRef ds:uri="b51c02e9-02d7-4e82-bc71-1126f25f445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21F2413-BE50-47CC-8D2C-BF78C94D8F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1066FC-2E6D-436A-A3C5-70D27862A5A6}">
  <ds:schemaRefs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infopath/2007/PartnerControls"/>
    <ds:schemaRef ds:uri="b51c02e9-02d7-4e82-bc71-1126f25f4450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1333</Words>
  <Application>Microsoft Office PowerPoint</Application>
  <PresentationFormat>Widescreen</PresentationFormat>
  <Paragraphs>247</Paragraphs>
  <Slides>26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Custom</vt:lpstr>
      <vt:lpstr>Online Food Delivery System</vt:lpstr>
      <vt:lpstr>PowerPoint Presentation</vt:lpstr>
      <vt:lpstr>PowerPoint Presentation</vt:lpstr>
      <vt:lpstr>PowerPoint Presentation</vt:lpstr>
      <vt:lpstr>PowerPoint Presentation</vt:lpstr>
      <vt:lpstr>About the restaurant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 You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created xsi:type="dcterms:W3CDTF">2024-03-25T13:10:07Z</dcterms:created>
  <dcterms:modified xsi:type="dcterms:W3CDTF">2024-09-19T04:00:12Z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0x010100BF1620671AA6F144983829BB9B74D827</vt:lpwstr>
  </property>
</Properties>
</file>